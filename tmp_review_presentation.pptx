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비율(%)</c:v>
                </c:pt>
              </c:strCache>
            </c:strRef>
          </c:tx>
          <c:spPr>
            <a:solidFill>
              <a:srgbClr val="8BC34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3409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말(구어)</c:v>
                </c:pt>
                <c:pt idx="1">
                  <c:v>입모양(구화)</c:v>
                </c:pt>
                <c:pt idx="2">
                  <c:v>몸짓</c:v>
                </c:pt>
                <c:pt idx="3">
                  <c:v>수어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84.2</c:v>
                </c:pt>
                <c:pt idx="1">
                  <c:v>5.9</c:v>
                </c:pt>
                <c:pt idx="2">
                  <c:v>3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BB-4695-85A9-79BD82147F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33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86DEC-9351-0FB6-9FF6-8027DC80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6FDEF-67FE-6850-04B6-C3DD14B2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EEC62-473A-0352-3D34-2BC2DC064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3A4A8-9DB6-2ACD-8387-E5793D457B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87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064240" y="2423160"/>
            <a:ext cx="822960" cy="822960"/>
          </a:xfrm>
          <a:prstGeom prst="ellipse">
            <a:avLst/>
          </a:prstGeom>
          <a:solidFill>
            <a:srgbClr val="E7F7D8">
              <a:alpha val="35000"/>
            </a:srgbClr>
          </a:solidFill>
          <a:ln w="12700">
            <a:solidFill>
              <a:srgbClr val="E7F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292840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66576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640312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292840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66576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640312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292840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466576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640312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6868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ESTsoft 2팀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68680" y="1618488"/>
            <a:ext cx="2057400" cy="0"/>
          </a:xfrm>
          <a:prstGeom prst="line">
            <a:avLst/>
          </a:prstGeom>
          <a:noFill/>
          <a:ln w="381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971800" y="1563624"/>
            <a:ext cx="118872" cy="118872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68680" y="2029968"/>
            <a:ext cx="9784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양방향</a:t>
            </a:r>
            <a:endParaRPr lang="en-US" sz="5500" dirty="0"/>
          </a:p>
          <a:p>
            <a:pPr marL="0" indent="0" algn="l">
              <a:buNone/>
            </a:pPr>
            <a:r>
              <a:rPr lang="en-US" sz="55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수어 통역기</a:t>
            </a:r>
            <a:endParaRPr lang="en-US" sz="5500" dirty="0"/>
          </a:p>
        </p:txBody>
      </p:sp>
      <p:sp>
        <p:nvSpPr>
          <p:cNvPr id="22" name="Text 20"/>
          <p:cNvSpPr/>
          <p:nvPr/>
        </p:nvSpPr>
        <p:spPr>
          <a:xfrm>
            <a:off x="896112" y="4160520"/>
            <a:ext cx="4754880" cy="347472"/>
          </a:xfrm>
          <a:prstGeom prst="rect">
            <a:avLst/>
          </a:prstGeom>
          <a:solidFill>
            <a:srgbClr val="DFF1CE"/>
          </a:solidFill>
          <a:ln>
            <a:solidFill>
              <a:srgbClr val="DFF1CE"/>
            </a:solidFill>
          </a:ln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285F1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병원</a:t>
            </a:r>
            <a:r>
              <a:rPr lang="en-US" sz="2000" b="1" dirty="0">
                <a:solidFill>
                  <a:srgbClr val="285F1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b="1" dirty="0" err="1">
                <a:solidFill>
                  <a:srgbClr val="285F1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상담형</a:t>
            </a:r>
            <a:r>
              <a:rPr lang="en-US" sz="2000" b="1" dirty="0">
                <a:solidFill>
                  <a:srgbClr val="285F1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키오스크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9875520" cy="0"/>
          </a:xfrm>
          <a:prstGeom prst="line">
            <a:avLst/>
          </a:prstGeom>
          <a:noFill/>
          <a:ln w="13970">
            <a:solidFill>
              <a:srgbClr val="B7DDA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68680" y="5285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수어 </a:t>
            </a:r>
            <a:r>
              <a:rPr lang="en-US" sz="1500" b="1" dirty="0" err="1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인식</a:t>
            </a:r>
            <a:r>
              <a:rPr lang="en-US" sz="1500" b="1" dirty="0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|  STT / TTS  |  상담 요약  |  카카오톡 알림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06840" y="5303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9A3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 Project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064240" y="2423160"/>
            <a:ext cx="822960" cy="822960"/>
          </a:xfrm>
          <a:prstGeom prst="ellipse">
            <a:avLst/>
          </a:prstGeom>
          <a:solidFill>
            <a:srgbClr val="E7F7D8">
              <a:alpha val="35000"/>
            </a:srgbClr>
          </a:solidFill>
          <a:ln w="12700">
            <a:solidFill>
              <a:srgbClr val="E7F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292840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66576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640312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292840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66576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640312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292840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466576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640312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87552" y="731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1005840" y="1536192"/>
            <a:ext cx="1536192" cy="0"/>
          </a:xfrm>
          <a:prstGeom prst="line">
            <a:avLst/>
          </a:prstGeom>
          <a:noFill/>
          <a:ln w="381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578608" y="1481328"/>
            <a:ext cx="118872" cy="118872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468880" y="2057400"/>
            <a:ext cx="7178040" cy="594360"/>
          </a:xfrm>
          <a:prstGeom prst="roundRect">
            <a:avLst>
              <a:gd name="adj" fmla="val 27692"/>
            </a:avLst>
          </a:prstGeom>
          <a:solidFill>
            <a:srgbClr val="E7F6DA"/>
          </a:solidFill>
          <a:ln w="6350">
            <a:solidFill>
              <a:srgbClr val="E6F5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139696" y="2039112"/>
            <a:ext cx="640080" cy="640080"/>
          </a:xfrm>
          <a:prstGeom prst="ellipse">
            <a:avLst/>
          </a:prstGeom>
          <a:solidFill>
            <a:srgbClr val="83C743"/>
          </a:solidFill>
          <a:ln w="635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139696" y="21717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25" name="Shape 23"/>
          <p:cNvSpPr/>
          <p:nvPr/>
        </p:nvSpPr>
        <p:spPr>
          <a:xfrm rot="5400000">
            <a:off x="2889504" y="2267712"/>
            <a:ext cx="128016" cy="164592"/>
          </a:xfrm>
          <a:prstGeom prst="triangle">
            <a:avLst/>
          </a:prstGeom>
          <a:solidFill>
            <a:srgbClr val="83C743"/>
          </a:solidFill>
          <a:ln w="127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749039" y="2189988"/>
            <a:ext cx="4434840" cy="347472"/>
          </a:xfrm>
          <a:prstGeom prst="rect">
            <a:avLst/>
          </a:prstGeom>
          <a:noFill/>
          <a:ln/>
        </p:spPr>
        <p:txBody>
          <a:bodyPr wrap="square" lIns="18288" tIns="0" rIns="0" bIns="0" rtlCol="0" anchor="ctr">
            <a:normAutofit lnSpcReduction="10000"/>
          </a:bodyPr>
          <a:lstStyle/>
          <a:p>
            <a:pPr algn="l"/>
            <a:r>
              <a:rPr sz="2400" b="1" dirty="0" err="1">
                <a:solidFill>
                  <a:srgbClr val="174111"/>
                </a:solidFill>
                <a:latin typeface="맑은 고딕"/>
              </a:rPr>
              <a:t>주제</a:t>
            </a:r>
            <a:r>
              <a:rPr lang="en-US" sz="2400" b="1" dirty="0">
                <a:solidFill>
                  <a:srgbClr val="174111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4111"/>
                </a:solidFill>
                <a:latin typeface="맑은 고딕"/>
              </a:rPr>
              <a:t>선정</a:t>
            </a:r>
            <a:r>
              <a:rPr sz="2400" b="1" dirty="0">
                <a:solidFill>
                  <a:srgbClr val="174111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74111"/>
                </a:solidFill>
                <a:latin typeface="맑은 고딕"/>
              </a:rPr>
              <a:t>배경</a:t>
            </a:r>
            <a:endParaRPr sz="2400" b="1" dirty="0">
              <a:solidFill>
                <a:srgbClr val="174111"/>
              </a:solidFill>
              <a:latin typeface="맑은 고딕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851392" y="2125980"/>
            <a:ext cx="475488" cy="475488"/>
          </a:xfrm>
          <a:prstGeom prst="ellipse">
            <a:avLst/>
          </a:prstGeom>
          <a:solidFill>
            <a:srgbClr val="83C743"/>
          </a:solidFill>
          <a:ln w="635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851392" y="218084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맑은 고딕"/>
              </a:rPr>
              <a:t>⌕</a:t>
            </a:r>
            <a:endParaRPr sz="1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459736" y="2898648"/>
            <a:ext cx="7178040" cy="594360"/>
          </a:xfrm>
          <a:prstGeom prst="roundRect">
            <a:avLst>
              <a:gd name="adj" fmla="val 27692"/>
            </a:avLst>
          </a:prstGeom>
          <a:solidFill>
            <a:srgbClr val="E7F6DA"/>
          </a:solidFill>
          <a:ln w="6350">
            <a:solidFill>
              <a:srgbClr val="E6F5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Shape 28"/>
          <p:cNvSpPr/>
          <p:nvPr/>
        </p:nvSpPr>
        <p:spPr>
          <a:xfrm>
            <a:off x="2139696" y="2880360"/>
            <a:ext cx="640080" cy="640080"/>
          </a:xfrm>
          <a:prstGeom prst="ellipse">
            <a:avLst/>
          </a:prstGeom>
          <a:solidFill>
            <a:srgbClr val="83C743"/>
          </a:solidFill>
          <a:ln w="635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139696" y="3003803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32" name="Shape 30"/>
          <p:cNvSpPr/>
          <p:nvPr/>
        </p:nvSpPr>
        <p:spPr>
          <a:xfrm rot="5400000">
            <a:off x="2889504" y="3108960"/>
            <a:ext cx="128016" cy="164592"/>
          </a:xfrm>
          <a:prstGeom prst="triangle">
            <a:avLst/>
          </a:prstGeom>
          <a:solidFill>
            <a:srgbClr val="83C743"/>
          </a:solidFill>
          <a:ln w="127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749039" y="3031236"/>
            <a:ext cx="4434840" cy="347472"/>
          </a:xfrm>
          <a:prstGeom prst="rect">
            <a:avLst/>
          </a:prstGeom>
          <a:noFill/>
          <a:ln/>
        </p:spPr>
        <p:txBody>
          <a:bodyPr wrap="square" lIns="18288" tIns="0" rIns="0" bIns="0" rtlCol="0" anchor="ctr">
            <a:normAutofit lnSpcReduction="10000"/>
          </a:bodyPr>
          <a:lstStyle/>
          <a:p>
            <a:pPr algn="l"/>
            <a:r>
              <a:rPr sz="2400" b="1" dirty="0" err="1">
                <a:solidFill>
                  <a:srgbClr val="174111"/>
                </a:solidFill>
                <a:latin typeface="맑은 고딕"/>
              </a:rPr>
              <a:t>프로젝트</a:t>
            </a:r>
            <a:r>
              <a:rPr sz="2400" b="1" dirty="0">
                <a:solidFill>
                  <a:srgbClr val="174111"/>
                </a:solidFill>
                <a:latin typeface="맑은 고딕"/>
              </a:rPr>
              <a:t> </a:t>
            </a:r>
            <a:r>
              <a:rPr lang="ko-KR" altLang="en-US" sz="2400" b="1" dirty="0">
                <a:solidFill>
                  <a:srgbClr val="174111"/>
                </a:solidFill>
                <a:latin typeface="맑은 고딕"/>
              </a:rPr>
              <a:t>내용</a:t>
            </a:r>
            <a:endParaRPr sz="2400" b="1" dirty="0">
              <a:solidFill>
                <a:srgbClr val="174111"/>
              </a:solidFill>
              <a:latin typeface="맑은 고딕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851392" y="2967228"/>
            <a:ext cx="475488" cy="475488"/>
          </a:xfrm>
          <a:prstGeom prst="ellipse">
            <a:avLst/>
          </a:prstGeom>
          <a:solidFill>
            <a:srgbClr val="83C743"/>
          </a:solidFill>
          <a:ln w="635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851392" y="303123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맑은 고딕"/>
              </a:rPr>
              <a:t>☑</a:t>
            </a:r>
          </a:p>
        </p:txBody>
      </p:sp>
      <p:sp>
        <p:nvSpPr>
          <p:cNvPr id="36" name="Shape 34"/>
          <p:cNvSpPr/>
          <p:nvPr/>
        </p:nvSpPr>
        <p:spPr>
          <a:xfrm>
            <a:off x="2468880" y="3739896"/>
            <a:ext cx="7178040" cy="594360"/>
          </a:xfrm>
          <a:prstGeom prst="roundRect">
            <a:avLst>
              <a:gd name="adj" fmla="val 27692"/>
            </a:avLst>
          </a:prstGeom>
          <a:solidFill>
            <a:srgbClr val="E7F6DA"/>
          </a:solidFill>
          <a:ln w="6350">
            <a:solidFill>
              <a:srgbClr val="E6F5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139696" y="3721608"/>
            <a:ext cx="640080" cy="640080"/>
          </a:xfrm>
          <a:prstGeom prst="ellipse">
            <a:avLst/>
          </a:prstGeom>
          <a:solidFill>
            <a:srgbClr val="83C743"/>
          </a:solidFill>
          <a:ln w="635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2139696" y="385369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39" name="Shape 37"/>
          <p:cNvSpPr/>
          <p:nvPr/>
        </p:nvSpPr>
        <p:spPr>
          <a:xfrm rot="5400000">
            <a:off x="2889504" y="3950208"/>
            <a:ext cx="128016" cy="164592"/>
          </a:xfrm>
          <a:prstGeom prst="triangle">
            <a:avLst/>
          </a:prstGeom>
          <a:solidFill>
            <a:srgbClr val="83C743"/>
          </a:solidFill>
          <a:ln w="127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749039" y="3872484"/>
            <a:ext cx="4434840" cy="347472"/>
          </a:xfrm>
          <a:prstGeom prst="rect">
            <a:avLst/>
          </a:prstGeom>
          <a:noFill/>
          <a:ln/>
        </p:spPr>
        <p:txBody>
          <a:bodyPr wrap="square" lIns="18288" tIns="0" rIns="0" bIns="0" rtlCol="0" anchor="ctr">
            <a:normAutofit lnSpcReduction="10000"/>
          </a:bodyPr>
          <a:lstStyle/>
          <a:p>
            <a:pPr algn="l"/>
            <a:r>
              <a:rPr lang="ko-KR" altLang="en-US" sz="2400" b="1" dirty="0">
                <a:solidFill>
                  <a:srgbClr val="174111"/>
                </a:solidFill>
                <a:latin typeface="맑은 고딕"/>
              </a:rPr>
              <a:t>프로젝트 팀 구성 및 역할</a:t>
            </a:r>
            <a:endParaRPr sz="2400" b="1" dirty="0">
              <a:solidFill>
                <a:srgbClr val="174111"/>
              </a:solidFill>
              <a:latin typeface="맑은 고딕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851392" y="3808476"/>
            <a:ext cx="475488" cy="475488"/>
          </a:xfrm>
          <a:prstGeom prst="ellipse">
            <a:avLst/>
          </a:prstGeom>
          <a:solidFill>
            <a:srgbClr val="83C743"/>
          </a:solidFill>
          <a:ln w="635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851392" y="387248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맑은 고딕"/>
              </a:rPr>
              <a:t>⚒</a:t>
            </a:r>
          </a:p>
        </p:txBody>
      </p:sp>
      <p:sp>
        <p:nvSpPr>
          <p:cNvPr id="43" name="Shape 41"/>
          <p:cNvSpPr/>
          <p:nvPr/>
        </p:nvSpPr>
        <p:spPr>
          <a:xfrm>
            <a:off x="2468880" y="4581144"/>
            <a:ext cx="7178040" cy="594360"/>
          </a:xfrm>
          <a:prstGeom prst="roundRect">
            <a:avLst>
              <a:gd name="adj" fmla="val 27692"/>
            </a:avLst>
          </a:prstGeom>
          <a:solidFill>
            <a:srgbClr val="E7F6DA"/>
          </a:solidFill>
          <a:ln w="6350">
            <a:solidFill>
              <a:srgbClr val="E6F5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2139696" y="4562856"/>
            <a:ext cx="640080" cy="640080"/>
          </a:xfrm>
          <a:prstGeom prst="ellipse">
            <a:avLst/>
          </a:prstGeom>
          <a:solidFill>
            <a:srgbClr val="83C743"/>
          </a:solidFill>
          <a:ln w="635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2139696" y="46908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46" name="Shape 44"/>
          <p:cNvSpPr/>
          <p:nvPr/>
        </p:nvSpPr>
        <p:spPr>
          <a:xfrm rot="5400000">
            <a:off x="2889504" y="4791456"/>
            <a:ext cx="128016" cy="164592"/>
          </a:xfrm>
          <a:prstGeom prst="triangle">
            <a:avLst/>
          </a:prstGeom>
          <a:solidFill>
            <a:srgbClr val="83C743"/>
          </a:solidFill>
          <a:ln w="127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3749039" y="4713732"/>
            <a:ext cx="4434840" cy="347472"/>
          </a:xfrm>
          <a:prstGeom prst="rect">
            <a:avLst/>
          </a:prstGeom>
          <a:noFill/>
          <a:ln/>
        </p:spPr>
        <p:txBody>
          <a:bodyPr wrap="square" lIns="18288" tIns="0" rIns="0" bIns="0" rtlCol="0" anchor="ctr">
            <a:normAutofit lnSpcReduction="10000"/>
          </a:bodyPr>
          <a:lstStyle/>
          <a:p>
            <a:pPr algn="l"/>
            <a:r>
              <a:rPr sz="2400" b="1" dirty="0" err="1">
                <a:solidFill>
                  <a:srgbClr val="174111"/>
                </a:solidFill>
                <a:latin typeface="맑은 고딕"/>
              </a:rPr>
              <a:t>프로젝트</a:t>
            </a:r>
            <a:r>
              <a:rPr sz="2400" b="1" dirty="0">
                <a:solidFill>
                  <a:srgbClr val="174111"/>
                </a:solidFill>
                <a:latin typeface="맑은 고딕"/>
              </a:rPr>
              <a:t> </a:t>
            </a:r>
            <a:r>
              <a:rPr lang="ko-KR" altLang="en-US" sz="2400" b="1" dirty="0">
                <a:solidFill>
                  <a:srgbClr val="174111"/>
                </a:solidFill>
                <a:latin typeface="맑은 고딕"/>
              </a:rPr>
              <a:t>수행 절차 및 결과</a:t>
            </a:r>
            <a:endParaRPr sz="2400" b="1" dirty="0">
              <a:solidFill>
                <a:srgbClr val="174111"/>
              </a:solidFill>
              <a:latin typeface="맑은 고딕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851392" y="4649724"/>
            <a:ext cx="475488" cy="475488"/>
          </a:xfrm>
          <a:prstGeom prst="ellipse">
            <a:avLst/>
          </a:prstGeom>
          <a:solidFill>
            <a:srgbClr val="83C743"/>
          </a:solidFill>
          <a:ln w="635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8851392" y="470001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맑은 고딕"/>
              </a:rPr>
              <a:t>▦</a:t>
            </a:r>
          </a:p>
        </p:txBody>
      </p:sp>
      <p:sp>
        <p:nvSpPr>
          <p:cNvPr id="50" name="Shape 48"/>
          <p:cNvSpPr/>
          <p:nvPr/>
        </p:nvSpPr>
        <p:spPr>
          <a:xfrm>
            <a:off x="2468880" y="5412600"/>
            <a:ext cx="7178040" cy="594360"/>
          </a:xfrm>
          <a:prstGeom prst="roundRect">
            <a:avLst>
              <a:gd name="adj" fmla="val 27692"/>
            </a:avLst>
          </a:prstGeom>
          <a:solidFill>
            <a:srgbClr val="E7F6DA"/>
          </a:solidFill>
          <a:ln w="6350">
            <a:solidFill>
              <a:srgbClr val="E6F5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2139696" y="5404104"/>
            <a:ext cx="640080" cy="640080"/>
          </a:xfrm>
          <a:prstGeom prst="ellipse">
            <a:avLst/>
          </a:prstGeom>
          <a:solidFill>
            <a:srgbClr val="83C743"/>
          </a:solidFill>
          <a:ln w="635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2150372" y="5536693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53" name="Shape 51"/>
          <p:cNvSpPr/>
          <p:nvPr/>
        </p:nvSpPr>
        <p:spPr>
          <a:xfrm rot="5400000">
            <a:off x="2889504" y="5632704"/>
            <a:ext cx="128016" cy="164592"/>
          </a:xfrm>
          <a:prstGeom prst="triangle">
            <a:avLst/>
          </a:prstGeom>
          <a:solidFill>
            <a:srgbClr val="83C743"/>
          </a:solidFill>
          <a:ln w="127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3749039" y="5554980"/>
            <a:ext cx="4434840" cy="347472"/>
          </a:xfrm>
          <a:prstGeom prst="rect">
            <a:avLst/>
          </a:prstGeom>
          <a:noFill/>
          <a:ln/>
        </p:spPr>
        <p:txBody>
          <a:bodyPr wrap="square" lIns="18288" tIns="0" rIns="0" bIns="0" rtlCol="0" anchor="ctr">
            <a:normAutofit lnSpcReduction="10000"/>
          </a:bodyPr>
          <a:lstStyle/>
          <a:p>
            <a:pPr algn="l"/>
            <a:r>
              <a:rPr lang="ko-KR" altLang="en-US" sz="2400" b="1" dirty="0">
                <a:solidFill>
                  <a:srgbClr val="174111"/>
                </a:solidFill>
                <a:latin typeface="맑은 고딕"/>
              </a:rPr>
              <a:t>자체평가 및 의견</a:t>
            </a:r>
            <a:endParaRPr sz="2400" b="1" dirty="0">
              <a:solidFill>
                <a:srgbClr val="174111"/>
              </a:solidFill>
              <a:latin typeface="맑은 고딕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845296" y="5490972"/>
            <a:ext cx="475488" cy="475488"/>
          </a:xfrm>
          <a:prstGeom prst="ellipse">
            <a:avLst/>
          </a:prstGeom>
          <a:solidFill>
            <a:srgbClr val="83C743"/>
          </a:solidFill>
          <a:ln w="6350">
            <a:solidFill>
              <a:srgbClr val="83C7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8851392" y="553204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🗨</a:t>
            </a:r>
            <a:endParaRPr sz="1600" b="1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11480" y="655624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i="1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Project  ·  병원 환경 양방향 수어 통역 키오스크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064240" y="2423160"/>
            <a:ext cx="822960" cy="822960"/>
          </a:xfrm>
          <a:prstGeom prst="ellipse">
            <a:avLst/>
          </a:prstGeom>
          <a:solidFill>
            <a:srgbClr val="E7F7D8">
              <a:alpha val="35000"/>
            </a:srgbClr>
          </a:solidFill>
          <a:ln w="12700">
            <a:solidFill>
              <a:srgbClr val="E7F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292840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66576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640312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292840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66576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640312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292840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466576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640312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9418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주제 선정 배경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411480" y="1627632"/>
            <a:ext cx="1828800" cy="0"/>
          </a:xfrm>
          <a:prstGeom prst="line">
            <a:avLst/>
          </a:prstGeom>
          <a:noFill/>
          <a:ln w="2921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258568" y="1572768"/>
            <a:ext cx="109728" cy="109728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11480" y="182880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 현장의 의사소통 장벽, 그러나 수어를 인식하는 키오스크는 아직 부족하다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" y="2286000"/>
            <a:ext cx="3520440" cy="1453896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Shape 24"/>
          <p:cNvSpPr/>
          <p:nvPr/>
        </p:nvSpPr>
        <p:spPr>
          <a:xfrm>
            <a:off x="685800" y="2392831"/>
            <a:ext cx="475488" cy="475488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90372" y="2487928"/>
            <a:ext cx="475488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2926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44만+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85800" y="3310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국내 청각장애인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3529584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등록장애인 263만 명 중 16.8% (2024년)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97680" y="2286000"/>
            <a:ext cx="3520440" cy="1453896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572000" y="2390357"/>
            <a:ext cx="475488" cy="475488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2497458"/>
            <a:ext cx="475488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0" y="2907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31.7%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572000" y="3310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신규 등록장애 1위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0" y="3529584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2024년 새로 등록된 장애 유형 중 청각이 최다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83880" y="2286000"/>
            <a:ext cx="3520440" cy="1453896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458200" y="2390357"/>
            <a:ext cx="475488" cy="475488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458200" y="2504848"/>
            <a:ext cx="475488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58200" y="2907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2025.1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8458200" y="3310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키오스크 의무화 시행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58200" y="3529584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장애인차별금지법 시행령 단계적 전면 적용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3913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우리가 주목한 세 가지 문제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11480" y="4270248"/>
            <a:ext cx="384048" cy="0"/>
          </a:xfrm>
          <a:prstGeom prst="line">
            <a:avLst/>
          </a:prstGeom>
          <a:noFill/>
          <a:ln w="3175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57200" y="4480560"/>
            <a:ext cx="265176" cy="265176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89204" y="453313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" y="446227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의료기관에서의 의사소통 장벽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2960" y="470916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151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 방문 시 수어 통역사 즉시 배치는 사실상 어려움 → 필담·구화 의존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457200" y="5056632"/>
            <a:ext cx="265176" cy="265176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98171" y="510921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2960" y="503834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현행 배리어프리 키오스크의 한계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22960" y="528523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151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음성·점자·높이조절 중심 설계로, 수어를 입력받는 기능은 거의 부재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457200" y="5632704"/>
            <a:ext cx="265176" cy="265176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89204" y="5682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2960" y="561441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법은 시행, 현장 체감은 미흡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22960" y="5861304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151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의무화 이후에도 실제 병원 현장에는 일반 키오스크가 더 많은 상황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7169455" y="3950208"/>
            <a:ext cx="4565345" cy="2133746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269480" y="4178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청각장애인 의사소통 방법 (2020 실태조사)</a:t>
            </a:r>
            <a:endParaRPr lang="en-US" sz="1070" dirty="0"/>
          </a:p>
        </p:txBody>
      </p:sp>
      <p:sp>
        <p:nvSpPr>
          <p:cNvPr id="59" name="Text 57"/>
          <p:cNvSpPr/>
          <p:nvPr/>
        </p:nvSpPr>
        <p:spPr>
          <a:xfrm>
            <a:off x="7269480" y="4489704"/>
            <a:ext cx="4224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 84.2%가 1위지만, 중증 농인은 수어가 중요한 1차 언어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411480" y="6528816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i="1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자료: 보건복지부 2024 등록장애인 통계, 2020 장애인 실태조사, 보건복지부 시행령 개정 보도자료</a:t>
            </a:r>
            <a:endParaRPr lang="en-US" sz="720" dirty="0"/>
          </a:p>
        </p:txBody>
      </p:sp>
      <p:graphicFrame>
        <p:nvGraphicFramePr>
          <p:cNvPr id="74" name="Chart 0">
            <a:extLst>
              <a:ext uri="{FF2B5EF4-FFF2-40B4-BE49-F238E27FC236}">
                <a16:creationId xmlns:a16="http://schemas.microsoft.com/office/drawing/2014/main" id="{12CC30D8-6402-D0B7-99A5-AE6C1007D8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5263265"/>
              </p:ext>
            </p:extLst>
          </p:nvPr>
        </p:nvGraphicFramePr>
        <p:xfrm>
          <a:off x="7196525" y="4633083"/>
          <a:ext cx="3886200" cy="1377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4B88F26-8606-13EE-7213-C7EFDCF6400C}"/>
              </a:ext>
            </a:extLst>
          </p:cNvPr>
          <p:cNvSpPr txBox="1"/>
          <p:nvPr/>
        </p:nvSpPr>
        <p:spPr>
          <a:xfrm>
            <a:off x="438912" y="274320"/>
            <a:ext cx="6400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5B9A38"/>
                </a:solidFill>
                <a:latin typeface="Arial"/>
              </a:rPr>
              <a:t>0</a:t>
            </a:r>
            <a:r>
              <a:rPr lang="en-US" sz="2000" b="1" dirty="0">
                <a:solidFill>
                  <a:srgbClr val="5B9A38"/>
                </a:solidFill>
                <a:latin typeface="Arial"/>
              </a:rPr>
              <a:t>1</a:t>
            </a:r>
            <a:endParaRPr sz="2000" b="1" dirty="0">
              <a:solidFill>
                <a:srgbClr val="5B9A38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270AC-7026-3B24-FFE6-6860F9CA33D0}"/>
              </a:ext>
            </a:extLst>
          </p:cNvPr>
          <p:cNvSpPr txBox="1"/>
          <p:nvPr/>
        </p:nvSpPr>
        <p:spPr>
          <a:xfrm>
            <a:off x="438912" y="56692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6D8594"/>
                </a:solidFill>
                <a:latin typeface="Arial"/>
              </a:rPr>
              <a:t>BACKGROUND</a:t>
            </a:r>
            <a:endParaRPr sz="1100" b="1" dirty="0">
              <a:solidFill>
                <a:srgbClr val="6D859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11292840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66576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640312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292840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66576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640312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292840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466576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640312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9418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주제 선정 배경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411480" y="1627632"/>
            <a:ext cx="1828800" cy="0"/>
          </a:xfrm>
          <a:prstGeom prst="line">
            <a:avLst/>
          </a:prstGeom>
          <a:noFill/>
          <a:ln w="2921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258568" y="1572768"/>
            <a:ext cx="109728" cy="109728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11480" y="182880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이 프로젝트가 필요한가?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2331720"/>
            <a:ext cx="5029200" cy="1426464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68680" y="2606040"/>
            <a:ext cx="457200" cy="45720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68680" y="2688336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 의사소통 문제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508760" y="2935224"/>
            <a:ext cx="2560320" cy="0"/>
          </a:xfrm>
          <a:prstGeom prst="line">
            <a:avLst/>
          </a:prstGeom>
          <a:noFill/>
          <a:ln w="2286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51560" y="3182112"/>
            <a:ext cx="3474720" cy="575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D2C19"/>
                </a:solidFill>
                <a:latin typeface="+mn-ea"/>
                <a:cs typeface="Noto Sans CJK KR" pitchFamily="34" charset="-120"/>
              </a:rPr>
              <a:t>병원은 접수, 증상 설명,</a:t>
            </a:r>
            <a:endParaRPr lang="en-US" sz="1150" dirty="0">
              <a:latin typeface="+mn-ea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1D2C19"/>
                </a:solidFill>
                <a:latin typeface="+mn-ea"/>
                <a:cs typeface="Noto Sans CJK KR" pitchFamily="34" charset="-120"/>
              </a:rPr>
              <a:t>검사·치료 안내 등</a:t>
            </a:r>
            <a:endParaRPr lang="en-US" sz="1150" dirty="0">
              <a:latin typeface="+mn-ea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1D2C19"/>
                </a:solidFill>
                <a:latin typeface="+mn-ea"/>
                <a:cs typeface="Noto Sans CJK KR" pitchFamily="34" charset="-120"/>
              </a:rPr>
              <a:t>정확한 의사소통이 중요한 공간</a:t>
            </a:r>
            <a:endParaRPr lang="en-US" sz="1150" dirty="0">
              <a:latin typeface="+mn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98848" y="2770632"/>
            <a:ext cx="676656" cy="676656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498848" y="2942496"/>
            <a:ext cx="676656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236208" y="2331720"/>
            <a:ext cx="5029200" cy="1426464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464808" y="2606040"/>
            <a:ext cx="457200" cy="45720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464808" y="2688336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04888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농인 환자의 불편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7104888" y="2935224"/>
            <a:ext cx="2560320" cy="0"/>
          </a:xfrm>
          <a:prstGeom prst="line">
            <a:avLst/>
          </a:prstGeom>
          <a:noFill/>
          <a:ln w="2286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647688" y="3182112"/>
            <a:ext cx="3474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D2C19"/>
                </a:solidFill>
                <a:latin typeface="+mn-ea"/>
                <a:cs typeface="Noto Sans CJK KR" pitchFamily="34" charset="-120"/>
              </a:rPr>
              <a:t>수어 통역 인력 부족,</a:t>
            </a:r>
            <a:endParaRPr lang="en-US" sz="1150" dirty="0">
              <a:latin typeface="+mn-ea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1D2C19"/>
                </a:solidFill>
                <a:latin typeface="+mn-ea"/>
                <a:cs typeface="Noto Sans CJK KR" pitchFamily="34" charset="-120"/>
              </a:rPr>
              <a:t>음성 중심 안내, 복잡한 의료 용어로</a:t>
            </a:r>
            <a:endParaRPr lang="en-US" sz="1150" dirty="0">
              <a:latin typeface="+mn-ea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1D2C19"/>
                </a:solidFill>
                <a:latin typeface="+mn-ea"/>
                <a:cs typeface="Noto Sans CJK KR" pitchFamily="34" charset="-120"/>
              </a:rPr>
              <a:t>병원 이용에 어려움 발생</a:t>
            </a:r>
            <a:endParaRPr lang="en-US" sz="1150" dirty="0">
              <a:latin typeface="+mn-ea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094976" y="2770632"/>
            <a:ext cx="676656" cy="676656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094976" y="2942496"/>
            <a:ext cx="676656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ko-KR" altLang="en-US" sz="2000" dirty="0"/>
              <a:t>❓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40080" y="4187952"/>
            <a:ext cx="5029200" cy="1426464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868680" y="4462272"/>
            <a:ext cx="457200" cy="45720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68680" y="4544568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50876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키오스크의 한계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508760" y="4791456"/>
            <a:ext cx="2560320" cy="0"/>
          </a:xfrm>
          <a:prstGeom prst="line">
            <a:avLst/>
          </a:prstGeom>
          <a:noFill/>
          <a:ln w="2286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051560" y="5038343"/>
            <a:ext cx="3474720" cy="576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D2C19"/>
                </a:solidFill>
                <a:latin typeface="+mn-ea"/>
                <a:cs typeface="Noto Sans CJK KR" pitchFamily="34" charset="-120"/>
              </a:rPr>
              <a:t>기존 키오스크는 접수·수납</a:t>
            </a:r>
            <a:endParaRPr lang="en-US" sz="1150" dirty="0">
              <a:latin typeface="+mn-ea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1D2C19"/>
                </a:solidFill>
                <a:latin typeface="+mn-ea"/>
                <a:cs typeface="Noto Sans CJK KR" pitchFamily="34" charset="-120"/>
              </a:rPr>
              <a:t>중심 기능에 머물러 있어</a:t>
            </a:r>
            <a:endParaRPr lang="en-US" sz="1150" dirty="0">
              <a:latin typeface="+mn-ea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1D2C19"/>
                </a:solidFill>
                <a:latin typeface="+mn-ea"/>
                <a:cs typeface="Noto Sans CJK KR" pitchFamily="34" charset="-120"/>
              </a:rPr>
              <a:t>상담형 양방향 소통이 부족</a:t>
            </a:r>
            <a:endParaRPr lang="en-US" sz="1150" dirty="0">
              <a:latin typeface="+mn-ea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498848" y="4626864"/>
            <a:ext cx="676656" cy="676656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498848" y="4798688"/>
            <a:ext cx="676656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ko-KR" altLang="en-US" sz="2000" dirty="0"/>
              <a:t>🤖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6236208" y="4187952"/>
            <a:ext cx="5029200" cy="1426464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464808" y="4462272"/>
            <a:ext cx="457200" cy="45720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464808" y="4544568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04888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7104888" y="4791456"/>
            <a:ext cx="2560320" cy="0"/>
          </a:xfrm>
          <a:prstGeom prst="line">
            <a:avLst/>
          </a:prstGeom>
          <a:noFill/>
          <a:ln w="2286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647688" y="5038343"/>
            <a:ext cx="3474720" cy="576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농인 환자가 수어로 </a:t>
            </a:r>
            <a:r>
              <a:rPr lang="en-US" sz="1150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증상과</a:t>
            </a:r>
            <a:r>
              <a:rPr lang="en-US" sz="115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요청을</a:t>
            </a:r>
            <a:r>
              <a:rPr lang="en-US" sz="115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전달</a:t>
            </a:r>
            <a:r>
              <a:rPr lang="en-US" sz="115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50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상담원의</a:t>
            </a:r>
            <a:r>
              <a:rPr lang="en-US" sz="115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안내를</a:t>
            </a:r>
            <a:r>
              <a:rPr lang="en-US" sz="115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텍스트로</a:t>
            </a:r>
            <a:r>
              <a:rPr lang="en-US" sz="115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50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확인할</a:t>
            </a:r>
            <a:r>
              <a:rPr lang="en-US" sz="115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수 </a:t>
            </a:r>
            <a:r>
              <a:rPr lang="en-US" sz="1150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있는</a:t>
            </a:r>
            <a:r>
              <a:rPr lang="en-US" sz="115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150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</a:t>
            </a:r>
            <a:r>
              <a:rPr lang="en-US" sz="115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키오스크 필요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0094976" y="4626864"/>
            <a:ext cx="676656" cy="676656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9966293" y="4819379"/>
            <a:ext cx="934022" cy="563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411480" y="655624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i="1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Project  ·  병원 환경 양방향 수어 통역 키오스크</a:t>
            </a:r>
            <a:endParaRPr lang="en-US" sz="72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1A501-1D2E-5A65-599C-13BEAE072950}"/>
              </a:ext>
            </a:extLst>
          </p:cNvPr>
          <p:cNvSpPr txBox="1"/>
          <p:nvPr/>
        </p:nvSpPr>
        <p:spPr>
          <a:xfrm>
            <a:off x="438912" y="274320"/>
            <a:ext cx="6400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5B9A38"/>
                </a:solidFill>
                <a:latin typeface="Arial"/>
              </a:rPr>
              <a:t>0</a:t>
            </a:r>
            <a:r>
              <a:rPr lang="en-US" sz="2000" b="1" dirty="0">
                <a:solidFill>
                  <a:srgbClr val="5B9A38"/>
                </a:solidFill>
                <a:latin typeface="Arial"/>
              </a:rPr>
              <a:t>1</a:t>
            </a:r>
            <a:endParaRPr sz="2000" b="1" dirty="0">
              <a:solidFill>
                <a:srgbClr val="5B9A38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3C5FB-9C98-C550-CB83-40934084B9A1}"/>
              </a:ext>
            </a:extLst>
          </p:cNvPr>
          <p:cNvSpPr txBox="1"/>
          <p:nvPr/>
        </p:nvSpPr>
        <p:spPr>
          <a:xfrm>
            <a:off x="438912" y="56692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6D8594"/>
                </a:solidFill>
                <a:latin typeface="Arial"/>
              </a:rPr>
              <a:t>BACKGROUND</a:t>
            </a:r>
            <a:endParaRPr sz="1100" b="1" dirty="0">
              <a:solidFill>
                <a:srgbClr val="6D859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064240" y="2423160"/>
            <a:ext cx="822960" cy="822960"/>
          </a:xfrm>
          <a:prstGeom prst="ellipse">
            <a:avLst/>
          </a:prstGeom>
          <a:solidFill>
            <a:srgbClr val="E7F7D8">
              <a:alpha val="35000"/>
            </a:srgbClr>
          </a:solidFill>
          <a:ln w="12700">
            <a:solidFill>
              <a:srgbClr val="E7F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rot="360000">
            <a:off x="512064" y="5943600"/>
            <a:ext cx="292608" cy="109728"/>
          </a:xfrm>
          <a:prstGeom prst="ellipse">
            <a:avLst/>
          </a:prstGeom>
          <a:solidFill>
            <a:srgbClr val="B7E59C">
              <a:alpha val="72000"/>
            </a:srgbClr>
          </a:solidFill>
          <a:ln w="6350">
            <a:solidFill>
              <a:srgbClr val="85C86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292840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66576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640312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292840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66576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640312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292840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466576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640312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9418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내용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411480" y="1627632"/>
            <a:ext cx="1828800" cy="0"/>
          </a:xfrm>
          <a:prstGeom prst="line">
            <a:avLst/>
          </a:prstGeom>
          <a:noFill/>
          <a:ln w="2921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258568" y="1572768"/>
            <a:ext cx="109728" cy="109728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11480" y="182880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농인이 먼저 호출 → 수어 ↔ 음성 양방향 통역 → 카카오톡 요약 알림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" y="2157984"/>
            <a:ext cx="3520440" cy="667512"/>
          </a:xfrm>
          <a:prstGeom prst="roundRect">
            <a:avLst>
              <a:gd name="adj" fmla="val 20548"/>
            </a:avLst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24"/>
          <p:cNvSpPr/>
          <p:nvPr/>
        </p:nvSpPr>
        <p:spPr>
          <a:xfrm>
            <a:off x="640080" y="23042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데이터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25237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WORD ID 3,000EA </a:t>
            </a:r>
            <a:r>
              <a:rPr lang="en-US" sz="1200" b="1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</a:t>
            </a:r>
            <a:r>
              <a:rPr lang="en-US" sz="120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(</a:t>
            </a:r>
            <a:r>
              <a:rPr lang="ko-KR" altLang="en-US" sz="120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중복제거 </a:t>
            </a:r>
            <a:r>
              <a:rPr lang="en-US" altLang="ko-KR" sz="120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1723EA)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2157984"/>
            <a:ext cx="3520440" cy="667512"/>
          </a:xfrm>
          <a:prstGeom prst="roundRect">
            <a:avLst>
              <a:gd name="adj" fmla="val 20548"/>
            </a:avLst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26280" y="23042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대상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26280" y="25237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병원 키오스크 (대학병원 환경)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83880" y="2157984"/>
            <a:ext cx="3520440" cy="667512"/>
          </a:xfrm>
          <a:prstGeom prst="roundRect">
            <a:avLst>
              <a:gd name="adj" fmla="val 20548"/>
            </a:avLst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412480" y="23042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형태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12480" y="25237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데모 + Email </a:t>
            </a:r>
            <a:r>
              <a:rPr lang="ko-KR" altLang="en-US" sz="120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발송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양방향 통역 흐름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1480" y="3456432"/>
            <a:ext cx="384048" cy="0"/>
          </a:xfrm>
          <a:prstGeom prst="line">
            <a:avLst/>
          </a:prstGeom>
          <a:noFill/>
          <a:ln w="3175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11480" y="3730752"/>
            <a:ext cx="272491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Text 36"/>
          <p:cNvSpPr/>
          <p:nvPr/>
        </p:nvSpPr>
        <p:spPr>
          <a:xfrm>
            <a:off x="685800" y="40462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ko-KR" altLang="en-US" sz="1600" dirty="0"/>
              <a:t>📞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679192" y="38039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800" b="1" i="1" dirty="0">
                <a:solidFill>
                  <a:srgbClr val="DFF1C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85800" y="4599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농인 호출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5800" y="48737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151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농인이 상담원 연결 버튼으로 먼저 상담 요청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3136392" y="4370832"/>
            <a:ext cx="219456" cy="201168"/>
          </a:xfrm>
          <a:prstGeom prst="rightArrow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3300984" y="3730752"/>
            <a:ext cx="272491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3575304" y="3977640"/>
            <a:ext cx="457200" cy="457200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586685" y="4078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568696" y="38039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800" b="1" i="1" dirty="0">
                <a:solidFill>
                  <a:srgbClr val="DFF1C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3575304" y="4599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수어 → 텍스트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575304" y="48737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151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카메라로 수어 인식 후 자연어 문장으로 변환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6025896" y="4370832"/>
            <a:ext cx="219456" cy="201168"/>
          </a:xfrm>
          <a:prstGeom prst="rightArrow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190488" y="3730752"/>
            <a:ext cx="272491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464808" y="3977640"/>
            <a:ext cx="457200" cy="457200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6464808" y="4078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ko-KR" altLang="en-US" sz="1600" dirty="0"/>
              <a:t>💬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58200" y="38039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800" b="1" i="1" dirty="0">
                <a:solidFill>
                  <a:srgbClr val="DFF1C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6464808" y="4599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음성 → 텍스트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464808" y="48737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151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상담원의 음성 안내를 STT로 화면에 표시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8915400" y="4370832"/>
            <a:ext cx="219456" cy="201168"/>
          </a:xfrm>
          <a:prstGeom prst="rightArrow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9079992" y="3730752"/>
            <a:ext cx="2724912" cy="1463040"/>
          </a:xfrm>
          <a:prstGeom prst="roundRect">
            <a:avLst>
              <a:gd name="adj" fmla="val 7500"/>
            </a:avLst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9354312" y="39776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9354312" y="407832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ko-KR" altLang="en-US" sz="1600" dirty="0"/>
              <a:t>💌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347704" y="38039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800" b="1" i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9354312" y="4599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 알림 전송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9354312" y="48737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F4FF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 종료 후 핵심 </a:t>
            </a:r>
            <a:r>
              <a:rPr lang="en-US" sz="830" dirty="0" err="1">
                <a:solidFill>
                  <a:srgbClr val="F4FF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내용을</a:t>
            </a:r>
            <a:r>
              <a:rPr lang="en-US" sz="830" dirty="0">
                <a:solidFill>
                  <a:srgbClr val="F4FFF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Email로 발송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411480" y="5504688"/>
            <a:ext cx="6629400" cy="841248"/>
          </a:xfrm>
          <a:prstGeom prst="roundRect">
            <a:avLst>
              <a:gd name="adj" fmla="val 13043"/>
            </a:avLst>
          </a:prstGeom>
          <a:solidFill>
            <a:srgbClr val="F4FBED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594360" y="56692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B9A3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시나리오 예시  (3,000개 단어 ID 기반)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94360" y="590702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접수 「저 + 환자」 · 증상 「저 + 머리 + 아프다」 · 검사 「저 + 검사 + 받다 + 원하다」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94360" y="617220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i="1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접수 → 증상 → 검사·치료 → 약 → 입퇴원 → 마무리 카테고리를 학습 단어로 커버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7269480" y="5504688"/>
            <a:ext cx="4462272" cy="841248"/>
          </a:xfrm>
          <a:prstGeom prst="roundRect">
            <a:avLst>
              <a:gd name="adj" fmla="val 13043"/>
            </a:avLst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7516368" y="56692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범위 (이번 단계)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498080" y="59253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수어 인식 모델 · STT 음성→텍스트 · Web UI 데모 · Email </a:t>
            </a:r>
            <a:r>
              <a:rPr lang="en-US" sz="90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알림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655624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i="1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Project  ·  병원 환경 양방향 수어 통역 키오스크</a:t>
            </a:r>
            <a:endParaRPr lang="en-US" sz="72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2448D-112F-C72D-B045-3EF14A3435DB}"/>
              </a:ext>
            </a:extLst>
          </p:cNvPr>
          <p:cNvSpPr txBox="1"/>
          <p:nvPr/>
        </p:nvSpPr>
        <p:spPr>
          <a:xfrm>
            <a:off x="438912" y="274320"/>
            <a:ext cx="6400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5B9A38"/>
                </a:solidFill>
                <a:latin typeface="Arial"/>
              </a:rPr>
              <a:t>0</a:t>
            </a:r>
            <a:r>
              <a:rPr lang="en-US" sz="2000" b="1" dirty="0">
                <a:solidFill>
                  <a:srgbClr val="5B9A38"/>
                </a:solidFill>
                <a:latin typeface="Arial"/>
              </a:rPr>
              <a:t>2</a:t>
            </a:r>
            <a:endParaRPr sz="2000" b="1" dirty="0">
              <a:solidFill>
                <a:srgbClr val="5B9A38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793E5-1752-B858-5540-0229845A22D1}"/>
              </a:ext>
            </a:extLst>
          </p:cNvPr>
          <p:cNvSpPr txBox="1"/>
          <p:nvPr/>
        </p:nvSpPr>
        <p:spPr>
          <a:xfrm>
            <a:off x="438912" y="56692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6D8594"/>
                </a:solidFill>
                <a:latin typeface="Arial"/>
              </a:rPr>
              <a:t>PROJECT</a:t>
            </a:r>
            <a:endParaRPr sz="1100" b="1" dirty="0">
              <a:solidFill>
                <a:srgbClr val="6D859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1064240" y="2423160"/>
            <a:ext cx="822960" cy="822960"/>
          </a:xfrm>
          <a:prstGeom prst="ellipse">
            <a:avLst/>
          </a:prstGeom>
          <a:solidFill>
            <a:srgbClr val="E7F7D8">
              <a:alpha val="35000"/>
            </a:srgbClr>
          </a:solidFill>
          <a:ln w="12700">
            <a:solidFill>
              <a:srgbClr val="E7F7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292840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66576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640312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292840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466576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640312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292840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466576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640312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9418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내용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411480" y="1627632"/>
            <a:ext cx="1828800" cy="0"/>
          </a:xfrm>
          <a:prstGeom prst="line">
            <a:avLst/>
          </a:prstGeom>
          <a:noFill/>
          <a:ln w="2921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258568" y="1572768"/>
            <a:ext cx="109728" cy="109728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11480" y="182880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병원 상담형 양방향 수어 통역 키오스크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2212848"/>
            <a:ext cx="5349240" cy="3474720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68680" y="248716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동작 흐름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68680" y="2816352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60120" y="2871216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60120" y="2944140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2916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상담원 연결 요청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907792" y="3209544"/>
            <a:ext cx="146304" cy="146304"/>
          </a:xfrm>
          <a:prstGeom prst="downArrow">
            <a:avLst/>
          </a:prstGeom>
          <a:solidFill>
            <a:srgbClr val="B7DDA4"/>
          </a:solidFill>
          <a:ln w="12700">
            <a:solidFill>
              <a:srgbClr val="B7DD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68680" y="3346704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60120" y="3401568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60120" y="3474491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71600" y="34472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농인 환자 수어 입력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907792" y="3739896"/>
            <a:ext cx="146304" cy="146304"/>
          </a:xfrm>
          <a:prstGeom prst="downArrow">
            <a:avLst/>
          </a:prstGeom>
          <a:solidFill>
            <a:srgbClr val="B7DDA4"/>
          </a:solidFill>
          <a:ln w="12700">
            <a:solidFill>
              <a:srgbClr val="B7DD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68680" y="3877056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60120" y="3931920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60120" y="4004843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71600" y="39776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수어 인식 → 텍스트 변환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907792" y="4270248"/>
            <a:ext cx="146304" cy="146304"/>
          </a:xfrm>
          <a:prstGeom prst="downArrow">
            <a:avLst/>
          </a:prstGeom>
          <a:solidFill>
            <a:srgbClr val="B7DDA4"/>
          </a:solidFill>
          <a:ln w="12700">
            <a:solidFill>
              <a:srgbClr val="B7DD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868680" y="4407408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960120" y="4462272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960120" y="4535195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371600" y="45079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상담원 음성 안내 → STT 변환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907792" y="4800600"/>
            <a:ext cx="146304" cy="146304"/>
          </a:xfrm>
          <a:prstGeom prst="downArrow">
            <a:avLst/>
          </a:prstGeom>
          <a:solidFill>
            <a:srgbClr val="B7DDA4"/>
          </a:solidFill>
          <a:ln w="12700">
            <a:solidFill>
              <a:srgbClr val="B7DD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868680" y="4937760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960120" y="4992624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960120" y="5069472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371600" y="50383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 내용 요약 후 카카오톡 전송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355080" y="2212848"/>
            <a:ext cx="5120640" cy="3474720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7" name="Text 55"/>
          <p:cNvSpPr/>
          <p:nvPr/>
        </p:nvSpPr>
        <p:spPr>
          <a:xfrm>
            <a:off x="6629400" y="2481682"/>
            <a:ext cx="1371600" cy="215798"/>
          </a:xfrm>
          <a:prstGeom prst="rect">
            <a:avLst/>
          </a:prstGeom>
          <a:solidFill>
            <a:srgbClr val="88C845"/>
          </a:solidFill>
          <a:ln>
            <a:solidFill>
              <a:srgbClr val="88C845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구성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629400" y="3132813"/>
            <a:ext cx="329184" cy="329184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9" name="Text 57"/>
          <p:cNvSpPr/>
          <p:nvPr/>
        </p:nvSpPr>
        <p:spPr>
          <a:xfrm>
            <a:off x="6629400" y="3209549"/>
            <a:ext cx="32918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ko-KR" altLang="en-US" sz="1100" dirty="0"/>
              <a:t>📊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14032" y="3205965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629400" y="3553437"/>
            <a:ext cx="4343400" cy="0"/>
          </a:xfrm>
          <a:prstGeom prst="line">
            <a:avLst/>
          </a:prstGeom>
          <a:noFill/>
          <a:ln w="6350">
            <a:solidFill>
              <a:srgbClr val="B7DDA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6629400" y="3635733"/>
            <a:ext cx="329184" cy="329184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3" name="Text 61"/>
          <p:cNvSpPr/>
          <p:nvPr/>
        </p:nvSpPr>
        <p:spPr>
          <a:xfrm>
            <a:off x="6629400" y="3716238"/>
            <a:ext cx="329184" cy="21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ko-KR" altLang="en-US" sz="1100" dirty="0"/>
              <a:t>✅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14032" y="3708885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병원 시나리오 중심 단어 조합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629400" y="4056357"/>
            <a:ext cx="4343400" cy="0"/>
          </a:xfrm>
          <a:prstGeom prst="line">
            <a:avLst/>
          </a:prstGeom>
          <a:noFill/>
          <a:ln w="6350">
            <a:solidFill>
              <a:srgbClr val="B7DDA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6629400" y="4190093"/>
            <a:ext cx="329184" cy="329184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6629400" y="4277876"/>
            <a:ext cx="32918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114032" y="4282485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STT </a:t>
            </a:r>
            <a:r>
              <a:rPr lang="en-US" sz="1100" dirty="0" err="1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기반</a:t>
            </a:r>
            <a:r>
              <a:rPr lang="en-US" sz="110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양방향 소통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29400" y="4618733"/>
            <a:ext cx="4343400" cy="0"/>
          </a:xfrm>
          <a:prstGeom prst="line">
            <a:avLst/>
          </a:prstGeom>
          <a:noFill/>
          <a:ln w="6350">
            <a:solidFill>
              <a:srgbClr val="B7DDA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6629400" y="4744749"/>
            <a:ext cx="329184" cy="329184"/>
          </a:xfrm>
          <a:prstGeom prst="ellipse">
            <a:avLst/>
          </a:prstGeom>
          <a:solidFill>
            <a:srgbClr val="DFF1CE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6629400" y="4814321"/>
            <a:ext cx="32918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114032" y="4823539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 요약 및 </a:t>
            </a:r>
            <a:r>
              <a:rPr lang="ko-KR" altLang="en-US" sz="1100" dirty="0">
                <a:solidFill>
                  <a:srgbClr val="1D2C1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이메일 발송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417320" y="5989320"/>
            <a:ext cx="9418320" cy="457200"/>
          </a:xfrm>
          <a:prstGeom prst="roundRect">
            <a:avLst>
              <a:gd name="adj" fmla="val 36000"/>
            </a:avLst>
          </a:prstGeom>
          <a:solidFill>
            <a:srgbClr val="ECF8E2"/>
          </a:solidFill>
          <a:ln w="12700">
            <a:solidFill>
              <a:srgbClr val="ECF8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2377440" y="61081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농인 환자와 상담원이 텍스트 기반으로 실시간 양방향 소통할 수 있는 의료 키오스크 서비스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11480" y="655624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i="1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Project  ·  병원 환경 양방향 수어 통역 키오스크</a:t>
            </a:r>
            <a:endParaRPr lang="en-US" sz="720" dirty="0"/>
          </a:p>
        </p:txBody>
      </p:sp>
      <p:sp>
        <p:nvSpPr>
          <p:cNvPr id="3" name="Text 62">
            <a:extLst>
              <a:ext uri="{FF2B5EF4-FFF2-40B4-BE49-F238E27FC236}">
                <a16:creationId xmlns:a16="http://schemas.microsoft.com/office/drawing/2014/main" id="{20CADA68-D7A8-8DFB-8A23-8FAA5D48ACD8}"/>
              </a:ext>
            </a:extLst>
          </p:cNvPr>
          <p:cNvSpPr/>
          <p:nvPr/>
        </p:nvSpPr>
        <p:spPr>
          <a:xfrm>
            <a:off x="7114031" y="3249652"/>
            <a:ext cx="34741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/>
              <a:t>3000EA </a:t>
            </a:r>
            <a:r>
              <a:rPr lang="ko-KR" altLang="en-US" sz="1100" dirty="0"/>
              <a:t>데이터 中 중복</a:t>
            </a:r>
            <a:r>
              <a:rPr lang="en-US" altLang="ko-KR" sz="1100" dirty="0"/>
              <a:t>(</a:t>
            </a:r>
            <a:r>
              <a:rPr lang="ko-KR" altLang="en-US" sz="1100" dirty="0"/>
              <a:t>방언</a:t>
            </a:r>
            <a:r>
              <a:rPr lang="en-US" altLang="ko-KR" sz="1100" dirty="0"/>
              <a:t>)</a:t>
            </a:r>
            <a:r>
              <a:rPr lang="ko-KR" altLang="en-US" sz="1100" dirty="0"/>
              <a:t>을 제외한 </a:t>
            </a:r>
            <a:r>
              <a:rPr lang="en-US" altLang="ko-KR" sz="1100" dirty="0"/>
              <a:t>1737EA </a:t>
            </a:r>
            <a:r>
              <a:rPr lang="ko-KR" altLang="en-US" sz="1100" dirty="0"/>
              <a:t>사용</a:t>
            </a:r>
            <a:endParaRPr lang="en-US" altLang="ko-KR" sz="11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0F4FE-05FF-A2CE-D5F8-BD4E203CD95F}"/>
              </a:ext>
            </a:extLst>
          </p:cNvPr>
          <p:cNvSpPr txBox="1"/>
          <p:nvPr/>
        </p:nvSpPr>
        <p:spPr>
          <a:xfrm>
            <a:off x="438912" y="274320"/>
            <a:ext cx="6400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5B9A38"/>
                </a:solidFill>
                <a:latin typeface="Arial"/>
              </a:rPr>
              <a:t>0</a:t>
            </a:r>
            <a:r>
              <a:rPr lang="en-US" sz="2000" b="1" dirty="0">
                <a:solidFill>
                  <a:srgbClr val="5B9A38"/>
                </a:solidFill>
                <a:latin typeface="Arial"/>
              </a:rPr>
              <a:t>2</a:t>
            </a:r>
            <a:endParaRPr sz="2000" b="1" dirty="0">
              <a:solidFill>
                <a:srgbClr val="5B9A38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3E340-1DFA-6195-6236-361CB6890BB8}"/>
              </a:ext>
            </a:extLst>
          </p:cNvPr>
          <p:cNvSpPr txBox="1"/>
          <p:nvPr/>
        </p:nvSpPr>
        <p:spPr>
          <a:xfrm>
            <a:off x="438912" y="56692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6D8594"/>
                </a:solidFill>
                <a:latin typeface="Arial"/>
              </a:rPr>
              <a:t>PROJECT</a:t>
            </a:r>
            <a:endParaRPr sz="1100" b="1" dirty="0">
              <a:solidFill>
                <a:srgbClr val="6D859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85C13-3314-A0D7-84D0-9B9743FA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>
            <a:extLst>
              <a:ext uri="{FF2B5EF4-FFF2-40B4-BE49-F238E27FC236}">
                <a16:creationId xmlns:a16="http://schemas.microsoft.com/office/drawing/2014/main" id="{93EB48CF-CF59-05AF-D7E0-FF36BD862F99}"/>
              </a:ext>
            </a:extLst>
          </p:cNvPr>
          <p:cNvSpPr/>
          <p:nvPr/>
        </p:nvSpPr>
        <p:spPr>
          <a:xfrm>
            <a:off x="11292840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84A65B6-56F1-4A31-BEDB-4E00F46A1CA2}"/>
              </a:ext>
            </a:extLst>
          </p:cNvPr>
          <p:cNvSpPr/>
          <p:nvPr/>
        </p:nvSpPr>
        <p:spPr>
          <a:xfrm>
            <a:off x="11466576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BA0D263-FAF8-1DBE-8236-450031995E9D}"/>
              </a:ext>
            </a:extLst>
          </p:cNvPr>
          <p:cNvSpPr/>
          <p:nvPr/>
        </p:nvSpPr>
        <p:spPr>
          <a:xfrm>
            <a:off x="11640312" y="384048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9E3F2D1-89A3-6C79-BEB0-6D0A53746270}"/>
              </a:ext>
            </a:extLst>
          </p:cNvPr>
          <p:cNvSpPr/>
          <p:nvPr/>
        </p:nvSpPr>
        <p:spPr>
          <a:xfrm>
            <a:off x="11292840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8E911BA-8BC7-5480-04EA-345BAF952D13}"/>
              </a:ext>
            </a:extLst>
          </p:cNvPr>
          <p:cNvSpPr/>
          <p:nvPr/>
        </p:nvSpPr>
        <p:spPr>
          <a:xfrm>
            <a:off x="11466576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3E5B836-8785-018B-80C6-B4BC9F37B940}"/>
              </a:ext>
            </a:extLst>
          </p:cNvPr>
          <p:cNvSpPr/>
          <p:nvPr/>
        </p:nvSpPr>
        <p:spPr>
          <a:xfrm>
            <a:off x="11640312" y="557784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6CE5869-A7F6-6F74-D1EF-FEA5545C3C1C}"/>
              </a:ext>
            </a:extLst>
          </p:cNvPr>
          <p:cNvSpPr/>
          <p:nvPr/>
        </p:nvSpPr>
        <p:spPr>
          <a:xfrm>
            <a:off x="11292840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9695D8-0380-1EBD-EAC5-2CF981D8DF6B}"/>
              </a:ext>
            </a:extLst>
          </p:cNvPr>
          <p:cNvSpPr/>
          <p:nvPr/>
        </p:nvSpPr>
        <p:spPr>
          <a:xfrm>
            <a:off x="11466576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DCA28DA-A21A-F09D-0813-C61DDC043D3E}"/>
              </a:ext>
            </a:extLst>
          </p:cNvPr>
          <p:cNvSpPr/>
          <p:nvPr/>
        </p:nvSpPr>
        <p:spPr>
          <a:xfrm>
            <a:off x="11640312" y="731520"/>
            <a:ext cx="50292" cy="50292"/>
          </a:xfrm>
          <a:prstGeom prst="ellipse">
            <a:avLst/>
          </a:prstGeom>
          <a:solidFill>
            <a:srgbClr val="8CC96E"/>
          </a:solidFill>
          <a:ln w="12700">
            <a:solidFill>
              <a:srgbClr val="8CC9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613ECEC-BFD6-A857-D930-EB91D0F96251}"/>
              </a:ext>
            </a:extLst>
          </p:cNvPr>
          <p:cNvSpPr/>
          <p:nvPr/>
        </p:nvSpPr>
        <p:spPr>
          <a:xfrm>
            <a:off x="411480" y="94183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3400" b="1" dirty="0">
                <a:solidFill>
                  <a:srgbClr val="10390C"/>
                </a:solidFill>
                <a:latin typeface="Noto Sans CJK KR" pitchFamily="34" charset="0"/>
              </a:rPr>
              <a:t>프로젝트 팀 구성 및 역할</a:t>
            </a:r>
            <a:endParaRPr lang="en-US" sz="3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C5DB7E8-8B84-2C74-39B3-A27588FC6391}"/>
              </a:ext>
            </a:extLst>
          </p:cNvPr>
          <p:cNvSpPr/>
          <p:nvPr/>
        </p:nvSpPr>
        <p:spPr>
          <a:xfrm>
            <a:off x="411480" y="1627632"/>
            <a:ext cx="1828800" cy="0"/>
          </a:xfrm>
          <a:prstGeom prst="line">
            <a:avLst/>
          </a:prstGeom>
          <a:noFill/>
          <a:ln w="2921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9D002CC-2059-16F3-3AF1-3A842B499D1F}"/>
              </a:ext>
            </a:extLst>
          </p:cNvPr>
          <p:cNvSpPr/>
          <p:nvPr/>
        </p:nvSpPr>
        <p:spPr>
          <a:xfrm>
            <a:off x="2258568" y="1572768"/>
            <a:ext cx="109728" cy="109728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C88F9E2-901B-3F37-BF82-B3B042771AE1}"/>
              </a:ext>
            </a:extLst>
          </p:cNvPr>
          <p:cNvSpPr/>
          <p:nvPr/>
        </p:nvSpPr>
        <p:spPr>
          <a:xfrm>
            <a:off x="411480" y="182880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프로젝트를 위한 팀원들의 노고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B561F5E-5381-D390-DC9A-087929EF1A75}"/>
              </a:ext>
            </a:extLst>
          </p:cNvPr>
          <p:cNvSpPr/>
          <p:nvPr/>
        </p:nvSpPr>
        <p:spPr>
          <a:xfrm>
            <a:off x="674913" y="2212848"/>
            <a:ext cx="6980139" cy="3474720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DBA8E4F-13C2-C516-41F3-D4B61B2387B7}"/>
              </a:ext>
            </a:extLst>
          </p:cNvPr>
          <p:cNvSpPr/>
          <p:nvPr/>
        </p:nvSpPr>
        <p:spPr>
          <a:xfrm>
            <a:off x="868680" y="2321705"/>
            <a:ext cx="21218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r>
              <a:rPr lang="ko-KR" altLang="en-US" sz="1500" b="1" dirty="0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팀원 </a:t>
            </a:r>
            <a:r>
              <a:rPr lang="ko-KR" altLang="en-US" sz="1500" b="1" dirty="0" err="1">
                <a:solidFill>
                  <a:srgbClr val="10390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ㅁ</a:t>
            </a:r>
            <a:endParaRPr lang="en-US" sz="15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66CAF80-FB5C-8716-EDB5-B2FC554EF6DC}"/>
              </a:ext>
            </a:extLst>
          </p:cNvPr>
          <p:cNvSpPr/>
          <p:nvPr/>
        </p:nvSpPr>
        <p:spPr>
          <a:xfrm>
            <a:off x="868680" y="2581220"/>
            <a:ext cx="1210709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69416B2-07D1-895A-EBD2-26FA9A2F05BA}"/>
              </a:ext>
            </a:extLst>
          </p:cNvPr>
          <p:cNvSpPr/>
          <p:nvPr/>
        </p:nvSpPr>
        <p:spPr>
          <a:xfrm>
            <a:off x="960120" y="2636084"/>
            <a:ext cx="276762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567979A-BCF7-4344-6127-B5A381913A55}"/>
              </a:ext>
            </a:extLst>
          </p:cNvPr>
          <p:cNvSpPr/>
          <p:nvPr/>
        </p:nvSpPr>
        <p:spPr>
          <a:xfrm>
            <a:off x="960120" y="2709008"/>
            <a:ext cx="27676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buNone/>
            </a:pPr>
            <a:r>
              <a:rPr lang="ko-KR" altLang="en-US" sz="1600" b="1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팀장</a:t>
            </a:r>
            <a:endParaRPr lang="en-US" sz="16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7DBF7BD-7F85-D61C-9788-FC4D05177CB9}"/>
              </a:ext>
            </a:extLst>
          </p:cNvPr>
          <p:cNvSpPr/>
          <p:nvPr/>
        </p:nvSpPr>
        <p:spPr>
          <a:xfrm>
            <a:off x="1371599" y="2681804"/>
            <a:ext cx="35056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F93586C-064D-4AF0-AB81-68B3045D058B}"/>
              </a:ext>
            </a:extLst>
          </p:cNvPr>
          <p:cNvSpPr/>
          <p:nvPr/>
        </p:nvSpPr>
        <p:spPr>
          <a:xfrm>
            <a:off x="868680" y="3111572"/>
            <a:ext cx="1210709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2DF4A67-521D-DACE-3F50-EC5839342D4B}"/>
              </a:ext>
            </a:extLst>
          </p:cNvPr>
          <p:cNvSpPr/>
          <p:nvPr/>
        </p:nvSpPr>
        <p:spPr>
          <a:xfrm>
            <a:off x="960120" y="3166436"/>
            <a:ext cx="276762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A482D13-B32F-6126-E228-4F4AB863684A}"/>
              </a:ext>
            </a:extLst>
          </p:cNvPr>
          <p:cNvSpPr/>
          <p:nvPr/>
        </p:nvSpPr>
        <p:spPr>
          <a:xfrm>
            <a:off x="960120" y="3239359"/>
            <a:ext cx="27676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팀원</a:t>
            </a:r>
            <a:endParaRPr lang="en-US" sz="16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72E1125-5F22-AC63-566B-EEC2B780E342}"/>
              </a:ext>
            </a:extLst>
          </p:cNvPr>
          <p:cNvSpPr/>
          <p:nvPr/>
        </p:nvSpPr>
        <p:spPr>
          <a:xfrm>
            <a:off x="1371599" y="3212156"/>
            <a:ext cx="35056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37D1A71-07DE-D057-76E5-0EB4E6CFFA34}"/>
              </a:ext>
            </a:extLst>
          </p:cNvPr>
          <p:cNvSpPr/>
          <p:nvPr/>
        </p:nvSpPr>
        <p:spPr>
          <a:xfrm>
            <a:off x="868680" y="3641924"/>
            <a:ext cx="1210709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D6A5D37-044D-743E-001E-A54AF9FB31D7}"/>
              </a:ext>
            </a:extLst>
          </p:cNvPr>
          <p:cNvSpPr/>
          <p:nvPr/>
        </p:nvSpPr>
        <p:spPr>
          <a:xfrm>
            <a:off x="960120" y="3696788"/>
            <a:ext cx="276762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926B2B8-8C05-B64C-A584-D01A5F04FA5C}"/>
              </a:ext>
            </a:extLst>
          </p:cNvPr>
          <p:cNvSpPr/>
          <p:nvPr/>
        </p:nvSpPr>
        <p:spPr>
          <a:xfrm>
            <a:off x="960120" y="3769711"/>
            <a:ext cx="27676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팀원</a:t>
            </a:r>
            <a:endParaRPr lang="en-US" sz="16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1F7DE2A-4EF6-C7B3-F8DF-F37AB0F2C040}"/>
              </a:ext>
            </a:extLst>
          </p:cNvPr>
          <p:cNvSpPr/>
          <p:nvPr/>
        </p:nvSpPr>
        <p:spPr>
          <a:xfrm>
            <a:off x="1371599" y="3742508"/>
            <a:ext cx="35056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5D30E1DC-D238-6212-E165-FEBE24B40E52}"/>
              </a:ext>
            </a:extLst>
          </p:cNvPr>
          <p:cNvSpPr/>
          <p:nvPr/>
        </p:nvSpPr>
        <p:spPr>
          <a:xfrm>
            <a:off x="868680" y="4172276"/>
            <a:ext cx="1210709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B005FE08-5889-C4FD-C5E8-F94B60360E8B}"/>
              </a:ext>
            </a:extLst>
          </p:cNvPr>
          <p:cNvSpPr/>
          <p:nvPr/>
        </p:nvSpPr>
        <p:spPr>
          <a:xfrm>
            <a:off x="960120" y="4227140"/>
            <a:ext cx="276762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16C8422-2D2A-5C0E-4E20-D15B61D9042B}"/>
              </a:ext>
            </a:extLst>
          </p:cNvPr>
          <p:cNvSpPr/>
          <p:nvPr/>
        </p:nvSpPr>
        <p:spPr>
          <a:xfrm>
            <a:off x="960120" y="4300063"/>
            <a:ext cx="27676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팀원</a:t>
            </a:r>
            <a:endParaRPr lang="en-US" sz="16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6BFC119-C199-2059-44AF-035968EB423E}"/>
              </a:ext>
            </a:extLst>
          </p:cNvPr>
          <p:cNvSpPr/>
          <p:nvPr/>
        </p:nvSpPr>
        <p:spPr>
          <a:xfrm>
            <a:off x="1371599" y="4272860"/>
            <a:ext cx="35056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C4C9A469-DCA6-6937-B37F-09F9A43D3102}"/>
              </a:ext>
            </a:extLst>
          </p:cNvPr>
          <p:cNvSpPr/>
          <p:nvPr/>
        </p:nvSpPr>
        <p:spPr>
          <a:xfrm>
            <a:off x="868680" y="4702628"/>
            <a:ext cx="1210709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5FD9679C-C3D0-1C2A-8A35-AC30A88D78F7}"/>
              </a:ext>
            </a:extLst>
          </p:cNvPr>
          <p:cNvSpPr/>
          <p:nvPr/>
        </p:nvSpPr>
        <p:spPr>
          <a:xfrm>
            <a:off x="960120" y="4757492"/>
            <a:ext cx="276762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6718313-175F-B4A0-0358-CC2CE8265AC5}"/>
              </a:ext>
            </a:extLst>
          </p:cNvPr>
          <p:cNvSpPr/>
          <p:nvPr/>
        </p:nvSpPr>
        <p:spPr>
          <a:xfrm>
            <a:off x="960120" y="4834340"/>
            <a:ext cx="27676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팀원</a:t>
            </a:r>
            <a:endParaRPr lang="en-US" sz="16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65430763-C901-5298-186A-257BA3405D74}"/>
              </a:ext>
            </a:extLst>
          </p:cNvPr>
          <p:cNvSpPr/>
          <p:nvPr/>
        </p:nvSpPr>
        <p:spPr>
          <a:xfrm>
            <a:off x="1371599" y="4803212"/>
            <a:ext cx="35056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C960E6DE-4EF3-8D39-B4DE-F596C7417EA9}"/>
              </a:ext>
            </a:extLst>
          </p:cNvPr>
          <p:cNvSpPr/>
          <p:nvPr/>
        </p:nvSpPr>
        <p:spPr>
          <a:xfrm>
            <a:off x="411480" y="6556248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i="1" dirty="0">
                <a:solidFill>
                  <a:srgbClr val="6D859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Project  ·  병원 환경 양방향 수어 통역 키오스크</a:t>
            </a:r>
            <a:endParaRPr lang="en-US" sz="720" dirty="0"/>
          </a:p>
        </p:txBody>
      </p:sp>
      <p:sp>
        <p:nvSpPr>
          <p:cNvPr id="3" name="Shape 49">
            <a:extLst>
              <a:ext uri="{FF2B5EF4-FFF2-40B4-BE49-F238E27FC236}">
                <a16:creationId xmlns:a16="http://schemas.microsoft.com/office/drawing/2014/main" id="{D8715AB0-06D8-5BE9-7F17-7B4841DEF511}"/>
              </a:ext>
            </a:extLst>
          </p:cNvPr>
          <p:cNvSpPr/>
          <p:nvPr/>
        </p:nvSpPr>
        <p:spPr>
          <a:xfrm>
            <a:off x="868680" y="5219264"/>
            <a:ext cx="1210709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50">
            <a:extLst>
              <a:ext uri="{FF2B5EF4-FFF2-40B4-BE49-F238E27FC236}">
                <a16:creationId xmlns:a16="http://schemas.microsoft.com/office/drawing/2014/main" id="{E9667687-BA04-89E9-7371-5E22132E6570}"/>
              </a:ext>
            </a:extLst>
          </p:cNvPr>
          <p:cNvSpPr/>
          <p:nvPr/>
        </p:nvSpPr>
        <p:spPr>
          <a:xfrm>
            <a:off x="960120" y="5274128"/>
            <a:ext cx="276762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51">
            <a:extLst>
              <a:ext uri="{FF2B5EF4-FFF2-40B4-BE49-F238E27FC236}">
                <a16:creationId xmlns:a16="http://schemas.microsoft.com/office/drawing/2014/main" id="{3D3959CE-37A6-77D4-AAF0-3D42673DF239}"/>
              </a:ext>
            </a:extLst>
          </p:cNvPr>
          <p:cNvSpPr/>
          <p:nvPr/>
        </p:nvSpPr>
        <p:spPr>
          <a:xfrm>
            <a:off x="960120" y="5350976"/>
            <a:ext cx="27676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팀원</a:t>
            </a:r>
            <a:endParaRPr lang="en-US" sz="1600" dirty="0"/>
          </a:p>
        </p:txBody>
      </p:sp>
      <p:sp>
        <p:nvSpPr>
          <p:cNvPr id="7" name="Text 52">
            <a:extLst>
              <a:ext uri="{FF2B5EF4-FFF2-40B4-BE49-F238E27FC236}">
                <a16:creationId xmlns:a16="http://schemas.microsoft.com/office/drawing/2014/main" id="{80A0ACE1-68E0-E381-D34F-FA59CEB91205}"/>
              </a:ext>
            </a:extLst>
          </p:cNvPr>
          <p:cNvSpPr/>
          <p:nvPr/>
        </p:nvSpPr>
        <p:spPr>
          <a:xfrm>
            <a:off x="1371599" y="5319848"/>
            <a:ext cx="35056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8" name="Shape 23">
            <a:extLst>
              <a:ext uri="{FF2B5EF4-FFF2-40B4-BE49-F238E27FC236}">
                <a16:creationId xmlns:a16="http://schemas.microsoft.com/office/drawing/2014/main" id="{A3FC67A9-75B0-B131-7BB1-12F3F8222B7A}"/>
              </a:ext>
            </a:extLst>
          </p:cNvPr>
          <p:cNvSpPr/>
          <p:nvPr/>
        </p:nvSpPr>
        <p:spPr>
          <a:xfrm>
            <a:off x="2495223" y="2212848"/>
            <a:ext cx="5159829" cy="3474720"/>
          </a:xfrm>
          <a:prstGeom prst="roundRect">
            <a:avLst>
              <a:gd name="adj" fmla="val 3421"/>
            </a:avLst>
          </a:prstGeom>
          <a:solidFill>
            <a:srgbClr val="FFFFFF"/>
          </a:solidFill>
          <a:ln w="12700">
            <a:solidFill>
              <a:srgbClr val="B7DDA4"/>
            </a:solidFill>
            <a:prstDash val="solid"/>
          </a:ln>
          <a:effectLst>
            <a:outerShdw blurRad="12700" dist="50800" dir="2700000" algn="bl" rotWithShape="0">
              <a:srgbClr val="D6EBC9">
                <a:alpha val="2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CAC20AC7-3804-6AB8-CDB1-E2C549C34F1A}"/>
              </a:ext>
            </a:extLst>
          </p:cNvPr>
          <p:cNvSpPr/>
          <p:nvPr/>
        </p:nvSpPr>
        <p:spPr>
          <a:xfrm>
            <a:off x="2688989" y="2321705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890CE1DD-3F38-6F71-6188-69E20C580828}"/>
              </a:ext>
            </a:extLst>
          </p:cNvPr>
          <p:cNvSpPr/>
          <p:nvPr/>
        </p:nvSpPr>
        <p:spPr>
          <a:xfrm>
            <a:off x="2688989" y="2581220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D98C6814-C39A-BAB9-FD3E-A8AEB3C0A9BB}"/>
              </a:ext>
            </a:extLst>
          </p:cNvPr>
          <p:cNvSpPr/>
          <p:nvPr/>
        </p:nvSpPr>
        <p:spPr>
          <a:xfrm>
            <a:off x="2780429" y="2636084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F1991B7D-9698-D1F0-486D-E629A022E949}"/>
              </a:ext>
            </a:extLst>
          </p:cNvPr>
          <p:cNvSpPr/>
          <p:nvPr/>
        </p:nvSpPr>
        <p:spPr>
          <a:xfrm>
            <a:off x="2780429" y="2709008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buNone/>
            </a:pPr>
            <a:r>
              <a:rPr lang="ko-KR" altLang="en-US" sz="1600" b="1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팀장</a:t>
            </a:r>
            <a:endParaRPr lang="en-US" sz="1600" dirty="0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99D7627A-5E2A-FB9A-590C-4C87AB867687}"/>
              </a:ext>
            </a:extLst>
          </p:cNvPr>
          <p:cNvSpPr/>
          <p:nvPr/>
        </p:nvSpPr>
        <p:spPr>
          <a:xfrm>
            <a:off x="3191909" y="26818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55" name="Shape 31">
            <a:extLst>
              <a:ext uri="{FF2B5EF4-FFF2-40B4-BE49-F238E27FC236}">
                <a16:creationId xmlns:a16="http://schemas.microsoft.com/office/drawing/2014/main" id="{106286CE-D6B5-01B5-77C1-A35E3EA582A1}"/>
              </a:ext>
            </a:extLst>
          </p:cNvPr>
          <p:cNvSpPr/>
          <p:nvPr/>
        </p:nvSpPr>
        <p:spPr>
          <a:xfrm>
            <a:off x="2688989" y="3111572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32">
            <a:extLst>
              <a:ext uri="{FF2B5EF4-FFF2-40B4-BE49-F238E27FC236}">
                <a16:creationId xmlns:a16="http://schemas.microsoft.com/office/drawing/2014/main" id="{87B1BB6A-D221-7641-F3FF-F45771B56A1B}"/>
              </a:ext>
            </a:extLst>
          </p:cNvPr>
          <p:cNvSpPr/>
          <p:nvPr/>
        </p:nvSpPr>
        <p:spPr>
          <a:xfrm>
            <a:off x="2780429" y="3166436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0E029799-4745-F21F-B025-2C769E6F7800}"/>
              </a:ext>
            </a:extLst>
          </p:cNvPr>
          <p:cNvSpPr/>
          <p:nvPr/>
        </p:nvSpPr>
        <p:spPr>
          <a:xfrm>
            <a:off x="2780429" y="3239359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팀원</a:t>
            </a:r>
            <a:endParaRPr lang="en-US" sz="1600" dirty="0"/>
          </a:p>
        </p:txBody>
      </p:sp>
      <p:sp>
        <p:nvSpPr>
          <p:cNvPr id="68" name="Text 34">
            <a:extLst>
              <a:ext uri="{FF2B5EF4-FFF2-40B4-BE49-F238E27FC236}">
                <a16:creationId xmlns:a16="http://schemas.microsoft.com/office/drawing/2014/main" id="{3B58F4CC-F0CA-EBE1-B99D-83A2F13BD413}"/>
              </a:ext>
            </a:extLst>
          </p:cNvPr>
          <p:cNvSpPr/>
          <p:nvPr/>
        </p:nvSpPr>
        <p:spPr>
          <a:xfrm>
            <a:off x="3191909" y="32121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69" name="Shape 37">
            <a:extLst>
              <a:ext uri="{FF2B5EF4-FFF2-40B4-BE49-F238E27FC236}">
                <a16:creationId xmlns:a16="http://schemas.microsoft.com/office/drawing/2014/main" id="{8F9B639A-3983-867C-A9A8-0CB609F370E2}"/>
              </a:ext>
            </a:extLst>
          </p:cNvPr>
          <p:cNvSpPr/>
          <p:nvPr/>
        </p:nvSpPr>
        <p:spPr>
          <a:xfrm>
            <a:off x="2688989" y="3641924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38">
            <a:extLst>
              <a:ext uri="{FF2B5EF4-FFF2-40B4-BE49-F238E27FC236}">
                <a16:creationId xmlns:a16="http://schemas.microsoft.com/office/drawing/2014/main" id="{2D9A5682-632A-1D4D-1209-8AD8E1351EAC}"/>
              </a:ext>
            </a:extLst>
          </p:cNvPr>
          <p:cNvSpPr/>
          <p:nvPr/>
        </p:nvSpPr>
        <p:spPr>
          <a:xfrm>
            <a:off x="2780429" y="3696788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8693AFB2-47A3-395A-902D-62498A65669F}"/>
              </a:ext>
            </a:extLst>
          </p:cNvPr>
          <p:cNvSpPr/>
          <p:nvPr/>
        </p:nvSpPr>
        <p:spPr>
          <a:xfrm>
            <a:off x="2780429" y="3769711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팀원</a:t>
            </a:r>
            <a:endParaRPr lang="en-US" sz="160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82707D22-FC67-75A5-8216-B045C12BBD3E}"/>
              </a:ext>
            </a:extLst>
          </p:cNvPr>
          <p:cNvSpPr/>
          <p:nvPr/>
        </p:nvSpPr>
        <p:spPr>
          <a:xfrm>
            <a:off x="3191909" y="37425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83" name="Shape 43">
            <a:extLst>
              <a:ext uri="{FF2B5EF4-FFF2-40B4-BE49-F238E27FC236}">
                <a16:creationId xmlns:a16="http://schemas.microsoft.com/office/drawing/2014/main" id="{7B89758C-4643-920E-2AA5-23258401DE4E}"/>
              </a:ext>
            </a:extLst>
          </p:cNvPr>
          <p:cNvSpPr/>
          <p:nvPr/>
        </p:nvSpPr>
        <p:spPr>
          <a:xfrm>
            <a:off x="2688989" y="4172276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44">
            <a:extLst>
              <a:ext uri="{FF2B5EF4-FFF2-40B4-BE49-F238E27FC236}">
                <a16:creationId xmlns:a16="http://schemas.microsoft.com/office/drawing/2014/main" id="{86CD9B54-EBBC-E03A-3FB5-7E8E7819BB08}"/>
              </a:ext>
            </a:extLst>
          </p:cNvPr>
          <p:cNvSpPr/>
          <p:nvPr/>
        </p:nvSpPr>
        <p:spPr>
          <a:xfrm>
            <a:off x="2780429" y="4227140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45">
            <a:extLst>
              <a:ext uri="{FF2B5EF4-FFF2-40B4-BE49-F238E27FC236}">
                <a16:creationId xmlns:a16="http://schemas.microsoft.com/office/drawing/2014/main" id="{37DADB25-A06D-ABED-7547-06D651C57FB4}"/>
              </a:ext>
            </a:extLst>
          </p:cNvPr>
          <p:cNvSpPr/>
          <p:nvPr/>
        </p:nvSpPr>
        <p:spPr>
          <a:xfrm>
            <a:off x="2780429" y="4300063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팀원</a:t>
            </a:r>
            <a:endParaRPr lang="en-US" sz="1600" dirty="0"/>
          </a:p>
        </p:txBody>
      </p:sp>
      <p:sp>
        <p:nvSpPr>
          <p:cNvPr id="86" name="Text 46">
            <a:extLst>
              <a:ext uri="{FF2B5EF4-FFF2-40B4-BE49-F238E27FC236}">
                <a16:creationId xmlns:a16="http://schemas.microsoft.com/office/drawing/2014/main" id="{749F6193-B8FF-8299-3134-60281096BB7A}"/>
              </a:ext>
            </a:extLst>
          </p:cNvPr>
          <p:cNvSpPr/>
          <p:nvPr/>
        </p:nvSpPr>
        <p:spPr>
          <a:xfrm>
            <a:off x="3191909" y="42728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87" name="Shape 49">
            <a:extLst>
              <a:ext uri="{FF2B5EF4-FFF2-40B4-BE49-F238E27FC236}">
                <a16:creationId xmlns:a16="http://schemas.microsoft.com/office/drawing/2014/main" id="{B852AAFC-9FEB-EF71-31C6-CCC56B797242}"/>
              </a:ext>
            </a:extLst>
          </p:cNvPr>
          <p:cNvSpPr/>
          <p:nvPr/>
        </p:nvSpPr>
        <p:spPr>
          <a:xfrm>
            <a:off x="2688989" y="4702628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50">
            <a:extLst>
              <a:ext uri="{FF2B5EF4-FFF2-40B4-BE49-F238E27FC236}">
                <a16:creationId xmlns:a16="http://schemas.microsoft.com/office/drawing/2014/main" id="{EDD63C1E-1434-A559-C8C4-93152B865F70}"/>
              </a:ext>
            </a:extLst>
          </p:cNvPr>
          <p:cNvSpPr/>
          <p:nvPr/>
        </p:nvSpPr>
        <p:spPr>
          <a:xfrm>
            <a:off x="2780429" y="4757492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51">
            <a:extLst>
              <a:ext uri="{FF2B5EF4-FFF2-40B4-BE49-F238E27FC236}">
                <a16:creationId xmlns:a16="http://schemas.microsoft.com/office/drawing/2014/main" id="{2EBED875-3624-60AC-7318-76412250B417}"/>
              </a:ext>
            </a:extLst>
          </p:cNvPr>
          <p:cNvSpPr/>
          <p:nvPr/>
        </p:nvSpPr>
        <p:spPr>
          <a:xfrm>
            <a:off x="2780429" y="4834340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팀원</a:t>
            </a:r>
            <a:endParaRPr lang="en-US" sz="1600" dirty="0"/>
          </a:p>
        </p:txBody>
      </p:sp>
      <p:sp>
        <p:nvSpPr>
          <p:cNvPr id="90" name="Text 52">
            <a:extLst>
              <a:ext uri="{FF2B5EF4-FFF2-40B4-BE49-F238E27FC236}">
                <a16:creationId xmlns:a16="http://schemas.microsoft.com/office/drawing/2014/main" id="{AF02D572-BBFF-1C0E-2EE3-EFB4DA5D2FB6}"/>
              </a:ext>
            </a:extLst>
          </p:cNvPr>
          <p:cNvSpPr/>
          <p:nvPr/>
        </p:nvSpPr>
        <p:spPr>
          <a:xfrm>
            <a:off x="3191909" y="48032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91" name="Shape 49">
            <a:extLst>
              <a:ext uri="{FF2B5EF4-FFF2-40B4-BE49-F238E27FC236}">
                <a16:creationId xmlns:a16="http://schemas.microsoft.com/office/drawing/2014/main" id="{F057D42B-8914-45BB-7C07-E366C9ADFFCD}"/>
              </a:ext>
            </a:extLst>
          </p:cNvPr>
          <p:cNvSpPr/>
          <p:nvPr/>
        </p:nvSpPr>
        <p:spPr>
          <a:xfrm>
            <a:off x="2688989" y="5219264"/>
            <a:ext cx="4663440" cy="384048"/>
          </a:xfrm>
          <a:prstGeom prst="roundRect">
            <a:avLst>
              <a:gd name="adj" fmla="val 23810"/>
            </a:avLst>
          </a:prstGeom>
          <a:solidFill>
            <a:srgbClr val="F7FCF1"/>
          </a:solidFill>
          <a:ln w="12700">
            <a:solidFill>
              <a:srgbClr val="DFF1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50">
            <a:extLst>
              <a:ext uri="{FF2B5EF4-FFF2-40B4-BE49-F238E27FC236}">
                <a16:creationId xmlns:a16="http://schemas.microsoft.com/office/drawing/2014/main" id="{16378EB8-F972-CFF1-A17F-1982C975BE14}"/>
              </a:ext>
            </a:extLst>
          </p:cNvPr>
          <p:cNvSpPr/>
          <p:nvPr/>
        </p:nvSpPr>
        <p:spPr>
          <a:xfrm>
            <a:off x="2780429" y="5274128"/>
            <a:ext cx="274320" cy="274320"/>
          </a:xfrm>
          <a:prstGeom prst="ellipse">
            <a:avLst/>
          </a:prstGeom>
          <a:solidFill>
            <a:srgbClr val="88C845"/>
          </a:solidFill>
          <a:ln w="12700">
            <a:solidFill>
              <a:srgbClr val="88C8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51">
            <a:extLst>
              <a:ext uri="{FF2B5EF4-FFF2-40B4-BE49-F238E27FC236}">
                <a16:creationId xmlns:a16="http://schemas.microsoft.com/office/drawing/2014/main" id="{2B3064C6-EF63-A2F8-2553-146D0CF1D9E9}"/>
              </a:ext>
            </a:extLst>
          </p:cNvPr>
          <p:cNvSpPr/>
          <p:nvPr/>
        </p:nvSpPr>
        <p:spPr>
          <a:xfrm>
            <a:off x="2780429" y="5350976"/>
            <a:ext cx="274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Noto Sans" pitchFamily="34" charset="0"/>
                <a:cs typeface="Noto Sans" pitchFamily="34" charset="-120"/>
              </a:rPr>
              <a:t>팀원</a:t>
            </a:r>
            <a:endParaRPr lang="en-US" sz="1600" dirty="0"/>
          </a:p>
        </p:txBody>
      </p:sp>
      <p:sp>
        <p:nvSpPr>
          <p:cNvPr id="94" name="Text 52">
            <a:extLst>
              <a:ext uri="{FF2B5EF4-FFF2-40B4-BE49-F238E27FC236}">
                <a16:creationId xmlns:a16="http://schemas.microsoft.com/office/drawing/2014/main" id="{B377EBED-BE3A-2990-1128-6B8962C85B54}"/>
              </a:ext>
            </a:extLst>
          </p:cNvPr>
          <p:cNvSpPr/>
          <p:nvPr/>
        </p:nvSpPr>
        <p:spPr>
          <a:xfrm>
            <a:off x="3191909" y="53198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02BFC-F025-D431-5ADF-1AB690203027}"/>
              </a:ext>
            </a:extLst>
          </p:cNvPr>
          <p:cNvSpPr txBox="1"/>
          <p:nvPr/>
        </p:nvSpPr>
        <p:spPr>
          <a:xfrm>
            <a:off x="438912" y="274320"/>
            <a:ext cx="6400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5B9A38"/>
                </a:solidFill>
                <a:latin typeface="Arial"/>
              </a:rPr>
              <a:t>0</a:t>
            </a:r>
            <a:r>
              <a:rPr lang="en-US" sz="2000" b="1" dirty="0">
                <a:solidFill>
                  <a:srgbClr val="5B9A38"/>
                </a:solidFill>
                <a:latin typeface="Arial"/>
              </a:rPr>
              <a:t>3</a:t>
            </a:r>
            <a:endParaRPr sz="2000" b="1" dirty="0">
              <a:solidFill>
                <a:srgbClr val="5B9A38"/>
              </a:solidFill>
              <a:latin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811F15-7EB0-6036-20E3-C4DD468B45D8}"/>
              </a:ext>
            </a:extLst>
          </p:cNvPr>
          <p:cNvSpPr txBox="1"/>
          <p:nvPr/>
        </p:nvSpPr>
        <p:spPr>
          <a:xfrm>
            <a:off x="438912" y="56692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6D8594"/>
                </a:solidFill>
                <a:latin typeface="Arial"/>
              </a:rPr>
              <a:t>R&amp;R</a:t>
            </a:r>
            <a:endParaRPr sz="1100" b="1" dirty="0">
              <a:solidFill>
                <a:srgbClr val="6D8594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953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5B9A38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D8594"/>
                </a:solidFill>
                <a:latin typeface="Arial"/>
              </a:rPr>
              <a:t>PROCEDURE</a:t>
            </a:r>
          </a:p>
        </p:txBody>
      </p:sp>
      <p:sp>
        <p:nvSpPr>
          <p:cNvPr id="4" name="Oval 3"/>
          <p:cNvSpPr/>
          <p:nvPr/>
        </p:nvSpPr>
        <p:spPr>
          <a:xfrm>
            <a:off x="11384280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03152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22024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84280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03152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22024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84280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03152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22024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D2C19"/>
                </a:solidFill>
                <a:latin typeface="Noto Sans CJK KR"/>
              </a:rPr>
              <a:t>개발 환경 및 기술 스택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D8594"/>
                </a:solidFill>
                <a:latin typeface="Noto Sans CJK KR"/>
              </a:rPr>
              <a:t>전처리부터 추론까지, 팀원 전원이 동일한 환경에서 협업하기 위한 기준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7744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2560320"/>
            <a:ext cx="1188720" cy="292608"/>
          </a:xfrm>
          <a:prstGeom prst="roundRect">
            <a:avLst>
              <a:gd name="adj" fmla="val 40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58775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공통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2C19"/>
                </a:solidFill>
                <a:latin typeface="Arial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175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dirty="0">
                <a:solidFill>
                  <a:srgbClr val="5B9A38"/>
                </a:solidFill>
                <a:latin typeface="Arial"/>
              </a:rPr>
              <a:t>3.10.x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015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2C19"/>
                </a:solidFill>
                <a:latin typeface="Arial"/>
              </a:rPr>
              <a:t>mediapipe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015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dirty="0">
                <a:solidFill>
                  <a:srgbClr val="5B9A38"/>
                </a:solidFill>
                <a:latin typeface="Arial"/>
              </a:rPr>
              <a:t>0.10.13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85615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2C19"/>
                </a:solidFill>
                <a:latin typeface="Arial"/>
              </a:rPr>
              <a:t>opencv-python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785615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dirty="0">
                <a:solidFill>
                  <a:srgbClr val="5B9A38"/>
                </a:solidFill>
                <a:latin typeface="Arial"/>
              </a:rPr>
              <a:t>4.11.0.86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16966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2C19"/>
                </a:solidFill>
                <a:latin typeface="Arial"/>
              </a:rPr>
              <a:t>opencv-contrib-python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16966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dirty="0">
                <a:solidFill>
                  <a:srgbClr val="5B9A38"/>
                </a:solidFill>
                <a:latin typeface="Arial"/>
              </a:rPr>
              <a:t>4.11.0.86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537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2C19"/>
                </a:solidFill>
                <a:latin typeface="Arial"/>
              </a:rPr>
              <a:t>numpy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5537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dirty="0">
                <a:solidFill>
                  <a:srgbClr val="5B9A38"/>
                </a:solidFill>
                <a:latin typeface="Arial"/>
              </a:rPr>
              <a:t>1.26.4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3775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2C19"/>
                </a:solidFill>
                <a:latin typeface="Arial"/>
              </a:rPr>
              <a:t>scikit-learn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5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dirty="0">
                <a:solidFill>
                  <a:srgbClr val="5B9A38"/>
                </a:solidFill>
                <a:latin typeface="Arial"/>
              </a:rPr>
              <a:t>1.3.1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4068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DFF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46811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B9A38"/>
                </a:solidFill>
                <a:latin typeface="Noto Sans CJK KR"/>
              </a:rPr>
              <a:t>⚡ PyTorch는 PC 환경에 따라 분기 설치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77900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41515A"/>
                </a:solidFill>
                <a:latin typeface="Arial"/>
              </a:rPr>
              <a:t>GPU/CUDA: torch==2.11.0+cu128    |    CPU only: torch==2.11.0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2377440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542032"/>
            <a:ext cx="777240" cy="7772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43600" y="338328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1D2C19"/>
                </a:solidFill>
                <a:latin typeface="Arial"/>
              </a:rPr>
              <a:t>Python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675887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 err="1">
                <a:solidFill>
                  <a:srgbClr val="6D8594"/>
                </a:solidFill>
                <a:latin typeface="Noto Sans CJK KR"/>
              </a:rPr>
              <a:t>프로그래밍</a:t>
            </a:r>
            <a:r>
              <a:rPr sz="900" b="0" dirty="0">
                <a:solidFill>
                  <a:srgbClr val="6D8594"/>
                </a:solidFill>
                <a:latin typeface="Noto Sans CJK KR"/>
              </a:rPr>
              <a:t> </a:t>
            </a:r>
            <a:r>
              <a:rPr sz="900" b="0" dirty="0" err="1">
                <a:solidFill>
                  <a:srgbClr val="6D8594"/>
                </a:solidFill>
                <a:latin typeface="Noto Sans CJK KR"/>
              </a:rPr>
              <a:t>언어</a:t>
            </a:r>
            <a:endParaRPr sz="900" b="0" dirty="0">
              <a:solidFill>
                <a:srgbClr val="6D8594"/>
              </a:solidFill>
              <a:latin typeface="Noto Sans CJK KR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909560" y="2377440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mediap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42032"/>
            <a:ext cx="777240" cy="7772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09560" y="338328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D2C19"/>
                </a:solidFill>
                <a:latin typeface="Arial"/>
              </a:rPr>
              <a:t>MediaPipe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675887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 err="1">
                <a:solidFill>
                  <a:srgbClr val="6D8594"/>
                </a:solidFill>
                <a:latin typeface="Noto Sans CJK KR"/>
              </a:rPr>
              <a:t>수어</a:t>
            </a:r>
            <a:r>
              <a:rPr sz="900" b="0" dirty="0">
                <a:solidFill>
                  <a:srgbClr val="6D8594"/>
                </a:solidFill>
                <a:latin typeface="Noto Sans CJK KR"/>
              </a:rPr>
              <a:t> </a:t>
            </a:r>
            <a:r>
              <a:rPr sz="900" b="0" dirty="0" err="1">
                <a:solidFill>
                  <a:srgbClr val="6D8594"/>
                </a:solidFill>
                <a:latin typeface="Noto Sans CJK KR"/>
              </a:rPr>
              <a:t>랜드마크</a:t>
            </a:r>
            <a:r>
              <a:rPr sz="900" b="0" dirty="0">
                <a:solidFill>
                  <a:srgbClr val="6D8594"/>
                </a:solidFill>
                <a:latin typeface="Noto Sans CJK KR"/>
              </a:rPr>
              <a:t> </a:t>
            </a:r>
            <a:r>
              <a:rPr sz="900" b="0" dirty="0" err="1">
                <a:solidFill>
                  <a:srgbClr val="6D8594"/>
                </a:solidFill>
                <a:latin typeface="Noto Sans CJK KR"/>
              </a:rPr>
              <a:t>추출</a:t>
            </a:r>
            <a:endParaRPr sz="900" b="0" dirty="0">
              <a:solidFill>
                <a:srgbClr val="6D8594"/>
              </a:solidFill>
              <a:latin typeface="Noto Sans CJK KR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875520" y="2377440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openc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2542032"/>
            <a:ext cx="777240" cy="7772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875520" y="338328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1D2C19"/>
                </a:solidFill>
                <a:latin typeface="Arial"/>
              </a:rPr>
              <a:t>OpenCV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3675887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 err="1">
                <a:solidFill>
                  <a:srgbClr val="6D8594"/>
                </a:solidFill>
                <a:latin typeface="Noto Sans CJK KR"/>
              </a:rPr>
              <a:t>영상</a:t>
            </a:r>
            <a:r>
              <a:rPr sz="900" b="0" dirty="0">
                <a:solidFill>
                  <a:srgbClr val="6D8594"/>
                </a:solidFill>
                <a:latin typeface="Noto Sans CJK KR"/>
              </a:rPr>
              <a:t> </a:t>
            </a:r>
            <a:r>
              <a:rPr sz="900" b="0" dirty="0" err="1">
                <a:solidFill>
                  <a:srgbClr val="6D8594"/>
                </a:solidFill>
                <a:latin typeface="Noto Sans CJK KR"/>
              </a:rPr>
              <a:t>처리</a:t>
            </a:r>
            <a:r>
              <a:rPr sz="900" b="0" dirty="0">
                <a:solidFill>
                  <a:srgbClr val="6D8594"/>
                </a:solidFill>
                <a:latin typeface="Noto Sans CJK KR"/>
              </a:rPr>
              <a:t> / </a:t>
            </a:r>
            <a:r>
              <a:rPr sz="900" b="0" dirty="0" err="1">
                <a:solidFill>
                  <a:srgbClr val="6D8594"/>
                </a:solidFill>
                <a:latin typeface="Noto Sans CJK KR"/>
              </a:rPr>
              <a:t>카메라</a:t>
            </a:r>
            <a:endParaRPr sz="900" b="0" dirty="0">
              <a:solidFill>
                <a:srgbClr val="6D8594"/>
              </a:solidFill>
              <a:latin typeface="Noto Sans CJK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943600" y="4160520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pyto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325112"/>
            <a:ext cx="777240" cy="77724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943600" y="516636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 err="1">
                <a:solidFill>
                  <a:srgbClr val="1D2C19"/>
                </a:solidFill>
                <a:latin typeface="Arial"/>
              </a:rPr>
              <a:t>PyTorch</a:t>
            </a:r>
            <a:endParaRPr sz="1200" b="1" dirty="0">
              <a:solidFill>
                <a:srgbClr val="1D2C19"/>
              </a:solidFill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943600" y="5458968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6D8594"/>
                </a:solidFill>
                <a:latin typeface="Noto Sans CJK KR"/>
              </a:rPr>
              <a:t>모델 학습 / 추론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09560" y="4160520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num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325112"/>
            <a:ext cx="777240" cy="7772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909560" y="516636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1D2C19"/>
                </a:solidFill>
                <a:latin typeface="Arial"/>
              </a:rPr>
              <a:t>NumPy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5458968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 err="1">
                <a:solidFill>
                  <a:srgbClr val="6D8594"/>
                </a:solidFill>
                <a:latin typeface="Noto Sans CJK KR"/>
              </a:rPr>
              <a:t>수치</a:t>
            </a:r>
            <a:r>
              <a:rPr sz="900" b="0" dirty="0">
                <a:solidFill>
                  <a:srgbClr val="6D8594"/>
                </a:solidFill>
                <a:latin typeface="Noto Sans CJK KR"/>
              </a:rPr>
              <a:t> </a:t>
            </a:r>
            <a:r>
              <a:rPr sz="900" b="0" dirty="0" err="1">
                <a:solidFill>
                  <a:srgbClr val="6D8594"/>
                </a:solidFill>
                <a:latin typeface="Noto Sans CJK KR"/>
              </a:rPr>
              <a:t>연산</a:t>
            </a:r>
            <a:endParaRPr sz="900" b="0" dirty="0">
              <a:solidFill>
                <a:srgbClr val="6D8594"/>
              </a:solidFill>
              <a:latin typeface="Noto Sans CJK KR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875520" y="4160520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sklear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4325112"/>
            <a:ext cx="777240" cy="77724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875520" y="516636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1D2C19"/>
                </a:solidFill>
                <a:latin typeface="Arial"/>
              </a:rPr>
              <a:t>scikit-learn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5458968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dirty="0" err="1">
                <a:solidFill>
                  <a:srgbClr val="6D8594"/>
                </a:solidFill>
                <a:latin typeface="Noto Sans CJK KR"/>
              </a:rPr>
              <a:t>전처리</a:t>
            </a:r>
            <a:r>
              <a:rPr sz="900" b="0" dirty="0">
                <a:solidFill>
                  <a:srgbClr val="6D8594"/>
                </a:solidFill>
                <a:latin typeface="Noto Sans CJK KR"/>
              </a:rPr>
              <a:t> / </a:t>
            </a:r>
            <a:r>
              <a:rPr sz="900" b="0" dirty="0" err="1">
                <a:solidFill>
                  <a:srgbClr val="6D8594"/>
                </a:solidFill>
                <a:latin typeface="Noto Sans CJK KR"/>
              </a:rPr>
              <a:t>평가</a:t>
            </a:r>
            <a:endParaRPr sz="900" b="0" dirty="0">
              <a:solidFill>
                <a:srgbClr val="6D8594"/>
              </a:solidFill>
              <a:latin typeface="Noto Sans CJK K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11480" y="654710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Team Project  ·  병원 환경 양방향 수어 통역 키오스크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5B9A38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D8594"/>
                </a:solidFill>
                <a:latin typeface="Arial"/>
              </a:rPr>
              <a:t>PROCEDURE</a:t>
            </a:r>
          </a:p>
        </p:txBody>
      </p:sp>
      <p:sp>
        <p:nvSpPr>
          <p:cNvPr id="4" name="Oval 3"/>
          <p:cNvSpPr/>
          <p:nvPr/>
        </p:nvSpPr>
        <p:spPr>
          <a:xfrm>
            <a:off x="11384280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03152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22024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84280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03152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22024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84280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03152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22024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D2C19"/>
                </a:solidFill>
                <a:latin typeface="Noto Sans CJK KR"/>
              </a:rPr>
              <a:t>프로젝트 수행 절차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D8594"/>
                </a:solidFill>
                <a:latin typeface="Noto Sans CJK KR"/>
              </a:rPr>
              <a:t>데이터 수집부터 양방향 통역까지, 5단계 파이프라인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201168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9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5B9A38"/>
                </a:solidFill>
                <a:latin typeface="Arial"/>
              </a:rPr>
              <a:t>01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" y="3246120"/>
            <a:ext cx="914400" cy="0"/>
          </a:xfrm>
          <a:prstGeom prst="line">
            <a:avLst/>
          </a:prstGeom>
          <a:ln w="12700">
            <a:solidFill>
              <a:srgbClr val="D6EB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D2C19"/>
                </a:solidFill>
                <a:latin typeface="Noto Sans CJK KR"/>
              </a:rPr>
              <a:t>데이터 수집·라벨링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1515A"/>
                </a:solidFill>
                <a:latin typeface="Noto Sans CJK KR"/>
              </a:rPr>
              <a:t>MVP 8개 라벨에서
출발해 점진적 확장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505456" y="3520440"/>
            <a:ext cx="224028" cy="182880"/>
          </a:xfrm>
          <a:prstGeom prst="rightArrow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66060" y="2468880"/>
            <a:ext cx="2011680" cy="2286000"/>
          </a:xfrm>
          <a:prstGeom prst="roundRect">
            <a:avLst>
              <a:gd name="adj" fmla="val 10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66060" y="26974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14700" y="3246120"/>
            <a:ext cx="914400" cy="0"/>
          </a:xfrm>
          <a:prstGeom prst="line">
            <a:avLst/>
          </a:prstGeom>
          <a:ln w="12700">
            <a:solidFill>
              <a:srgbClr val="80C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857500" y="3337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MediaPipe 전처리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7500" y="38862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D6EBC9"/>
                </a:solidFill>
                <a:latin typeface="Noto Sans CJK KR"/>
              </a:rPr>
              <a:t>손·자세 랜드마크 +
손가락 좌표 확장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814316" y="3520440"/>
            <a:ext cx="224028" cy="182880"/>
          </a:xfrm>
          <a:prstGeom prst="rightArrow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74920" y="2468880"/>
            <a:ext cx="201168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9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74920" y="26974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5B9A38"/>
                </a:solidFill>
                <a:latin typeface="Arial"/>
              </a:rPr>
              <a:t>03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23560" y="3246120"/>
            <a:ext cx="914400" cy="0"/>
          </a:xfrm>
          <a:prstGeom prst="line">
            <a:avLst/>
          </a:prstGeom>
          <a:ln w="12700">
            <a:solidFill>
              <a:srgbClr val="D6EB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66360" y="3337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D2C19"/>
                </a:solidFill>
                <a:latin typeface="Noto Sans CJK KR"/>
              </a:rPr>
              <a:t>모델 학습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38862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1515A"/>
                </a:solidFill>
                <a:latin typeface="Noto Sans CJK KR"/>
              </a:rPr>
              <a:t>수어 시퀀스 →
자연어 문장 변환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123176" y="3520440"/>
            <a:ext cx="224028" cy="182880"/>
          </a:xfrm>
          <a:prstGeom prst="rightArrow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83780" y="2468880"/>
            <a:ext cx="2011680" cy="2286000"/>
          </a:xfrm>
          <a:prstGeom prst="roundRect">
            <a:avLst>
              <a:gd name="adj" fmla="val 10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83780" y="26974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32420" y="3246120"/>
            <a:ext cx="914400" cy="0"/>
          </a:xfrm>
          <a:prstGeom prst="line">
            <a:avLst/>
          </a:prstGeom>
          <a:ln w="12700">
            <a:solidFill>
              <a:srgbClr val="80C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75220" y="3337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STT 음성 인식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5220" y="38862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D6EBC9"/>
                </a:solidFill>
                <a:latin typeface="Noto Sans CJK KR"/>
              </a:rPr>
              <a:t>상담원 음성 →
실시간 텍스트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432036" y="3520440"/>
            <a:ext cx="224028" cy="182880"/>
          </a:xfrm>
          <a:prstGeom prst="rightArrow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692640" y="2468880"/>
            <a:ext cx="201168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9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92640" y="26974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5B9A38"/>
                </a:solidFill>
                <a:latin typeface="Arial"/>
              </a:rPr>
              <a:t>05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241280" y="3246120"/>
            <a:ext cx="914400" cy="0"/>
          </a:xfrm>
          <a:prstGeom prst="line">
            <a:avLst/>
          </a:prstGeom>
          <a:ln w="12700">
            <a:solidFill>
              <a:srgbClr val="D6EB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784080" y="33375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D2C19"/>
                </a:solidFill>
                <a:latin typeface="Noto Sans CJK KR"/>
              </a:rPr>
              <a:t>Web 데모 + 알림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388620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1515A"/>
                </a:solidFill>
                <a:latin typeface="Noto Sans CJK KR"/>
              </a:rPr>
              <a:t>양방향 통역 UI
카카오톡 요약 발송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12064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9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528523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B9A38"/>
                </a:solidFill>
                <a:latin typeface="Noto Sans CJK KR"/>
              </a:rPr>
              <a:t>🎯 핵심 강조 영역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596128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 err="1">
                <a:solidFill>
                  <a:srgbClr val="41515A"/>
                </a:solidFill>
                <a:latin typeface="Noto Sans CJK KR"/>
              </a:rPr>
              <a:t>MediaPipe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기반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전처리와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STT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음성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인식이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본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프로젝트의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두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축이며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,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양방향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통역의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정확도와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응답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속도를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좌우하는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핵심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100" b="0" dirty="0" err="1">
                <a:solidFill>
                  <a:srgbClr val="41515A"/>
                </a:solidFill>
                <a:latin typeface="Noto Sans CJK KR"/>
              </a:rPr>
              <a:t>모듈입니다</a:t>
            </a:r>
            <a:r>
              <a:rPr sz="1100" b="0" dirty="0">
                <a:solidFill>
                  <a:srgbClr val="41515A"/>
                </a:solidFill>
                <a:latin typeface="Noto Sans CJK KR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4710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Team Project  ·  병원 환경 양방향 수어 통역 키오스크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>
                <a:solidFill>
                  <a:srgbClr val="5B9A38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6D8594"/>
                </a:solidFill>
                <a:latin typeface="Arial"/>
              </a:rPr>
              <a:t>PROCEDURE</a:t>
            </a:r>
          </a:p>
        </p:txBody>
      </p:sp>
      <p:sp>
        <p:nvSpPr>
          <p:cNvPr id="4" name="Oval 3"/>
          <p:cNvSpPr/>
          <p:nvPr/>
        </p:nvSpPr>
        <p:spPr>
          <a:xfrm>
            <a:off x="11384280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03152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22024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84280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03152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22024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84280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03152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22024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D2C19"/>
                </a:solidFill>
                <a:latin typeface="Noto Sans CJK KR"/>
              </a:rPr>
              <a:t>전처리 개선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D8594"/>
                </a:solidFill>
                <a:latin typeface="Noto Sans CJK KR"/>
              </a:rPr>
              <a:t>초기 MVP의 한계를 마주하고, 라벨 수와 손가락 좌표를 보강한 두 번째 시도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97880" y="3703320"/>
            <a:ext cx="411480" cy="457200"/>
          </a:xfrm>
          <a:prstGeom prst="rightArrow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2377440"/>
            <a:ext cx="53492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2542032"/>
            <a:ext cx="1828800" cy="329184"/>
          </a:xfrm>
          <a:prstGeom prst="roundRect">
            <a:avLst>
              <a:gd name="adj" fmla="val 40000"/>
            </a:avLst>
          </a:prstGeom>
          <a:solidFill>
            <a:srgbClr val="6D8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5694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초기 MVP 시도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6D8594"/>
                </a:solidFill>
                <a:latin typeface="Arial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2461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2C19"/>
                </a:solidFill>
                <a:latin typeface="Noto Sans CJK KR"/>
              </a:rPr>
              <a:t>개 라벨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566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D8594"/>
                </a:solidFill>
                <a:latin typeface="Arial"/>
              </a:rPr>
              <a:t>Minimum Viable Product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4800600" cy="64008"/>
          </a:xfrm>
          <a:prstGeom prst="roundRect">
            <a:avLst/>
          </a:prstGeom>
          <a:solidFill>
            <a:srgbClr val="D6E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7A32"/>
                </a:solidFill>
                <a:latin typeface="Noto Sans CJK KR"/>
              </a:rPr>
              <a:t>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43400"/>
            <a:ext cx="44805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2C19"/>
                </a:solidFill>
                <a:latin typeface="Noto Sans CJK KR"/>
              </a:rPr>
              <a:t>의사소통 표현의 한계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6177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1515A"/>
                </a:solidFill>
                <a:latin typeface="Noto Sans CJK KR"/>
              </a:rPr>
              <a:t>8개 단어로는 병원 시나리오 대화 커버 불가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7A32"/>
                </a:solidFill>
                <a:latin typeface="Noto Sans CJK KR"/>
              </a:rPr>
              <a:t>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029200"/>
            <a:ext cx="44805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2C19"/>
                </a:solidFill>
                <a:latin typeface="Noto Sans CJK KR"/>
              </a:rPr>
              <a:t>Face landmarks 추출 시도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303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41515A"/>
                </a:solidFill>
                <a:latin typeface="Noto Sans CJK KR"/>
              </a:rPr>
              <a:t>조명·각도에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따라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안정적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추출이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어려움</a:t>
            </a:r>
            <a:endParaRPr sz="950" b="0" dirty="0">
              <a:solidFill>
                <a:srgbClr val="41515A"/>
              </a:solidFill>
              <a:latin typeface="Noto Sans CJK K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7A32"/>
                </a:solidFill>
                <a:latin typeface="Noto Sans CJK KR"/>
              </a:rPr>
              <a:t>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715000"/>
            <a:ext cx="44805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2C19"/>
                </a:solidFill>
                <a:latin typeface="Noto Sans CJK KR"/>
              </a:rPr>
              <a:t>손가락 모양 변별력 부족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9893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1515A"/>
                </a:solidFill>
                <a:latin typeface="Noto Sans CJK KR"/>
              </a:rPr>
              <a:t>기본 21개 좌표만으로는 유사 수어 구분 한계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377440"/>
            <a:ext cx="5349240" cy="4023360"/>
          </a:xfrm>
          <a:prstGeom prst="roundRect">
            <a:avLst>
              <a:gd name="adj" fmla="val 8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675120" y="2542032"/>
            <a:ext cx="1828800" cy="32918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25694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5B9A38"/>
                </a:solidFill>
                <a:latin typeface="Noto Sans CJK KR"/>
              </a:rPr>
              <a:t>개선된 두 번째 버전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01752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Arial"/>
              </a:rPr>
              <a:t>1,723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2461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개 라벨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5661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D6EBC9"/>
                </a:solidFill>
                <a:latin typeface="Noto Sans CJK KR"/>
              </a:rPr>
              <a:t>WORD ID 3,000개 중 중복 제거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160520"/>
            <a:ext cx="4800600" cy="64008"/>
          </a:xfrm>
          <a:prstGeom prst="roundRect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4343400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0C260"/>
                </a:solidFill>
                <a:latin typeface="Noto Sans CJK KR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343400"/>
            <a:ext cx="44805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라벨 수 대폭 확장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6177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6EBC9"/>
                </a:solidFill>
                <a:latin typeface="Noto Sans CJK KR"/>
              </a:rPr>
              <a:t>병원 시나리오 단어 커버리지 확보 (접수~입퇴원)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029200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0C260"/>
                </a:solidFill>
                <a:latin typeface="Noto Sans CJK KR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029200"/>
            <a:ext cx="44805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Face 제외, Hand·Pose 집중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5303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6EBC9"/>
                </a:solidFill>
                <a:latin typeface="Noto Sans CJK KR"/>
              </a:rPr>
              <a:t>안정적으로 추출 가능한 키포인트만 선별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715000"/>
            <a:ext cx="274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0C260"/>
                </a:solidFill>
                <a:latin typeface="Noto Sans CJK KR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715000"/>
            <a:ext cx="44805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손가락 좌표 추가 확장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9893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6EBC9"/>
                </a:solidFill>
                <a:latin typeface="Noto Sans CJK KR"/>
              </a:rPr>
              <a:t>관절별 좌표를 보강해 유사 수어 변별력 향상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54710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Team Project  ·  병원 환경 양방향 수어 통역 키오스크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5B9A38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D8594"/>
                </a:solidFill>
                <a:latin typeface="Arial"/>
              </a:rPr>
              <a:t>PROCEDURE</a:t>
            </a:r>
          </a:p>
        </p:txBody>
      </p:sp>
      <p:sp>
        <p:nvSpPr>
          <p:cNvPr id="4" name="Oval 3"/>
          <p:cNvSpPr/>
          <p:nvPr/>
        </p:nvSpPr>
        <p:spPr>
          <a:xfrm>
            <a:off x="11384280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03152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22024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84280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03152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22024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84280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03152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22024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D2C19"/>
                </a:solidFill>
                <a:latin typeface="Noto Sans CJK KR"/>
              </a:rPr>
              <a:t>MediaPipe 기반 수어 전처리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D8594"/>
                </a:solidFill>
                <a:latin typeface="Noto Sans CJK KR"/>
              </a:rPr>
              <a:t>안정적으로 추출 가능한 손·자세 랜드마크에 집중하고, 손가락 좌표를 보강</a:t>
            </a:r>
          </a:p>
        </p:txBody>
      </p:sp>
      <p:pic>
        <p:nvPicPr>
          <p:cNvPr id="15" name="Picture 14" descr="media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1371600" cy="137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39319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D2C19"/>
                </a:solidFill>
                <a:latin typeface="Arial"/>
              </a:rPr>
              <a:t>Google MediaPipe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D8594"/>
                </a:solidFill>
                <a:latin typeface="Noto Sans CJK KR"/>
              </a:rPr>
              <a:t>온디바이스 ML 솔루션
Hand + Pose 채택</a:t>
            </a:r>
          </a:p>
        </p:txBody>
      </p:sp>
      <p:sp>
        <p:nvSpPr>
          <p:cNvPr id="18" name="Oval 17"/>
          <p:cNvSpPr/>
          <p:nvPr/>
        </p:nvSpPr>
        <p:spPr>
          <a:xfrm>
            <a:off x="2834640" y="2377440"/>
            <a:ext cx="411480" cy="411480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34640" y="2432304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395728"/>
            <a:ext cx="36575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D2C19"/>
                </a:solidFill>
                <a:latin typeface="Noto Sans CJK KR"/>
              </a:rPr>
              <a:t>프레임 캡처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743200"/>
            <a:ext cx="36575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1515A"/>
                </a:solidFill>
                <a:latin typeface="Noto Sans CJK KR"/>
              </a:rPr>
              <a:t>OpenCV로 카메라 프레임 획득 (BGR → RGB 변환)</a:t>
            </a:r>
          </a:p>
        </p:txBody>
      </p:sp>
      <p:sp>
        <p:nvSpPr>
          <p:cNvPr id="22" name="Oval 21"/>
          <p:cNvSpPr/>
          <p:nvPr/>
        </p:nvSpPr>
        <p:spPr>
          <a:xfrm>
            <a:off x="2834640" y="3337560"/>
            <a:ext cx="411480" cy="411480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34640" y="3392424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355848"/>
            <a:ext cx="36575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D2C19"/>
                </a:solidFill>
                <a:latin typeface="Noto Sans CJK KR"/>
              </a:rPr>
              <a:t>Hand·Pose 추출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703320"/>
            <a:ext cx="36575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1515A"/>
                </a:solidFill>
                <a:latin typeface="Noto Sans CJK KR"/>
              </a:rPr>
              <a:t>손과 상반신 자세 키포인트만 검출 (Face 제외)</a:t>
            </a:r>
          </a:p>
        </p:txBody>
      </p:sp>
      <p:sp>
        <p:nvSpPr>
          <p:cNvPr id="26" name="Oval 25"/>
          <p:cNvSpPr/>
          <p:nvPr/>
        </p:nvSpPr>
        <p:spPr>
          <a:xfrm>
            <a:off x="2834640" y="4297680"/>
            <a:ext cx="411480" cy="411480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34640" y="4352544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315968"/>
            <a:ext cx="36575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D2C19"/>
                </a:solidFill>
                <a:latin typeface="Noto Sans CJK KR"/>
              </a:rPr>
              <a:t>좌표 정규화·확장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663440"/>
            <a:ext cx="36575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41515A"/>
                </a:solidFill>
                <a:latin typeface="Noto Sans CJK KR"/>
              </a:rPr>
              <a:t>어깨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너비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기준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스케일링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+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손가락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좌표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추가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보강</a:t>
            </a:r>
            <a:endParaRPr sz="1000" b="0" dirty="0">
              <a:solidFill>
                <a:srgbClr val="41515A"/>
              </a:solidFill>
              <a:latin typeface="Noto Sans CJK KR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2834640" y="5257800"/>
            <a:ext cx="411480" cy="411480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34640" y="5312664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276088"/>
            <a:ext cx="36575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D2C19"/>
                </a:solidFill>
                <a:latin typeface="Noto Sans CJK KR"/>
              </a:rPr>
              <a:t>시퀀스 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623560"/>
            <a:ext cx="36575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41515A"/>
                </a:solidFill>
                <a:latin typeface="Noto Sans CJK KR"/>
              </a:rPr>
              <a:t>타임스텝별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좌표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누적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→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수어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단어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단위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입력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벡터</a:t>
            </a:r>
            <a:endParaRPr sz="1000" b="0" dirty="0">
              <a:solidFill>
                <a:srgbClr val="41515A"/>
              </a:solidFill>
              <a:latin typeface="Noto Sans CJK KR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315200" y="2377440"/>
            <a:ext cx="438912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0" y="2542032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5B9A38"/>
                </a:solidFill>
                <a:latin typeface="Noto Sans CJK KR"/>
              </a:rPr>
              <a:t>추출 키포인트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301752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310896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D2C19"/>
                </a:solidFill>
                <a:latin typeface="Noto Sans CJK KR"/>
              </a:rPr>
              <a:t>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3035808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2C19"/>
                </a:solidFill>
                <a:latin typeface="Arial"/>
              </a:rPr>
              <a:t>Hand Landmarks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3291839"/>
            <a:ext cx="3291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B9A38"/>
                </a:solidFill>
                <a:latin typeface="Noto Sans CJK KR"/>
              </a:rPr>
              <a:t>양손 × 21 + 추가 좌표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3529584"/>
            <a:ext cx="3291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관절별 좌표 보강으로 변별력↑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3977639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0" y="4069079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D2C19"/>
                </a:solidFill>
                <a:latin typeface="Noto Sans CJK KR"/>
              </a:rPr>
              <a:t>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3995927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2C19"/>
                </a:solidFill>
                <a:latin typeface="Arial"/>
              </a:rPr>
              <a:t>Pose Landmarks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4251959"/>
            <a:ext cx="3291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B9A38"/>
                </a:solidFill>
                <a:latin typeface="Noto Sans CJK KR"/>
              </a:rPr>
              <a:t>33개 (상반신 위주)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4489704"/>
            <a:ext cx="3291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어깨·팔꿈치·손목 위치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4937759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6D8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89520" y="5029199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4956047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D8594"/>
                </a:solidFill>
                <a:latin typeface="Arial"/>
              </a:rPr>
              <a:t>Face Landmarks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5212079"/>
            <a:ext cx="3291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D8594"/>
                </a:solidFill>
                <a:latin typeface="Noto Sans CJK KR"/>
              </a:rPr>
              <a:t>이번 프로젝트 미사용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5449823"/>
            <a:ext cx="3291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안정적 추출이 어려워 제외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989320"/>
            <a:ext cx="11247120" cy="365760"/>
          </a:xfrm>
          <a:prstGeom prst="roundRect">
            <a:avLst>
              <a:gd name="adj" fmla="val 30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604418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Noto Sans CJK KR"/>
              </a:rPr>
              <a:t>픽셀이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아닌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좌표를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학습하므로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조명·의상·배경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변화에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강하고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,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학습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효율이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크게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향상됩니다</a:t>
            </a:r>
            <a:endParaRPr sz="1100" b="1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1480" y="654710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Team Project  ·  병원 환경 양방향 수어 통역 키오스크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5B9A38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D8594"/>
                </a:solidFill>
                <a:latin typeface="Arial"/>
              </a:rPr>
              <a:t>PROCEDURE</a:t>
            </a:r>
          </a:p>
        </p:txBody>
      </p:sp>
      <p:sp>
        <p:nvSpPr>
          <p:cNvPr id="4" name="Oval 3"/>
          <p:cNvSpPr/>
          <p:nvPr/>
        </p:nvSpPr>
        <p:spPr>
          <a:xfrm>
            <a:off x="11384280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03152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22024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84280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03152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22024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84280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03152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22024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D2C19"/>
                </a:solidFill>
                <a:latin typeface="Noto Sans CJK KR"/>
              </a:rPr>
              <a:t>STT 음성 인식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D8594"/>
                </a:solidFill>
                <a:latin typeface="Noto Sans CJK KR"/>
              </a:rPr>
              <a:t>상담원 음성을 실시간 텍스트로 변환하여 농인 환자에게 즉시 전달</a:t>
            </a:r>
          </a:p>
        </p:txBody>
      </p:sp>
      <p:pic>
        <p:nvPicPr>
          <p:cNvPr id="15" name="Picture 14" descr="s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1371600" cy="137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39319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D2C19"/>
                </a:solidFill>
                <a:latin typeface="Arial"/>
              </a:rPr>
              <a:t>Speech-to-Text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6D8594"/>
                </a:solidFill>
                <a:latin typeface="Noto Sans CJK KR"/>
              </a:rPr>
              <a:t>Web Speech API
실시간 변환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37744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34640" y="2468880"/>
            <a:ext cx="594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1D2C19"/>
                </a:solidFill>
                <a:latin typeface="Noto Sans CJK KR"/>
              </a:rPr>
              <a:t>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42316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2C19"/>
                </a:solidFill>
                <a:latin typeface="Noto Sans CJK KR"/>
              </a:rPr>
              <a:t>음성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743200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1515A"/>
                </a:solidFill>
                <a:latin typeface="Noto Sans CJK KR"/>
              </a:rPr>
              <a:t>상담원 마이크로부터 연속 오디오 스트림 수집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040380" y="3035808"/>
            <a:ext cx="182880" cy="274320"/>
          </a:xfrm>
          <a:prstGeom prst="downArrow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834640" y="333756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34640" y="3429000"/>
            <a:ext cx="594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1D2C19"/>
                </a:solidFill>
                <a:latin typeface="Noto Sans CJK KR"/>
              </a:rPr>
              <a:t>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38328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2C19"/>
                </a:solidFill>
                <a:latin typeface="Noto Sans CJK KR"/>
              </a:rPr>
              <a:t>실시간 스트리밍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703320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1515A"/>
                </a:solidFill>
                <a:latin typeface="Noto Sans CJK KR"/>
              </a:rPr>
              <a:t>짧은 청크 단위로 STT 엔진에 전송, latency 최소화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040380" y="3995928"/>
            <a:ext cx="182880" cy="274320"/>
          </a:xfrm>
          <a:prstGeom prst="downArrow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834640" y="429768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34640" y="4389120"/>
            <a:ext cx="594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1D2C19"/>
                </a:solidFill>
                <a:latin typeface="Noto Sans CJK KR"/>
              </a:rPr>
              <a:t>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34340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2C19"/>
                </a:solidFill>
                <a:latin typeface="Noto Sans CJK KR"/>
              </a:rPr>
              <a:t>텍스트 변환 + 보정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4663440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1515A"/>
                </a:solidFill>
                <a:latin typeface="Noto Sans CJK KR"/>
              </a:rPr>
              <a:t>의료 용어 사전 보강, 종결 어미 정제로 가독성 향상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3040380" y="4956048"/>
            <a:ext cx="182880" cy="274320"/>
          </a:xfrm>
          <a:prstGeom prst="downArrow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834640" y="5257800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34640" y="5349240"/>
            <a:ext cx="594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1D2C19"/>
                </a:solidFill>
                <a:latin typeface="Noto Sans CJK KR"/>
              </a:rPr>
              <a:t>🖥️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30352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2C19"/>
                </a:solidFill>
                <a:latin typeface="Noto Sans CJK KR"/>
              </a:rPr>
              <a:t>화면 출력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623560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1515A"/>
                </a:solidFill>
                <a:latin typeface="Noto Sans CJK KR"/>
              </a:rPr>
              <a:t>농인 환자 화면에 즉시 표시 + 종료 시 카카오톡 요약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2377440"/>
            <a:ext cx="29718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9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15400" y="2542032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B9A38"/>
                </a:solidFill>
                <a:latin typeface="Noto Sans CJK KR"/>
              </a:rPr>
              <a:t>양방향 통역 구조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2971800"/>
            <a:ext cx="2514600" cy="1097280"/>
          </a:xfrm>
          <a:prstGeom prst="roundRect">
            <a:avLst>
              <a:gd name="adj" fmla="val 10000"/>
            </a:avLst>
          </a:prstGeom>
          <a:solidFill>
            <a:srgbClr val="F7FCF1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8280" y="303580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2C19"/>
                </a:solidFill>
                <a:latin typeface="Noto Sans CJK KR"/>
              </a:rPr>
              <a:t>👤 농인 환자 → 상담원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29184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1515A"/>
                </a:solidFill>
                <a:latin typeface="Noto Sans CJK KR"/>
              </a:rPr>
              <a:t>수어 입력
→ MediaPipe 추출
→ 텍스트 변환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4160520"/>
            <a:ext cx="2514600" cy="1097280"/>
          </a:xfrm>
          <a:prstGeom prst="roundRect">
            <a:avLst>
              <a:gd name="adj" fmla="val 10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98280" y="422452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CJK KR"/>
              </a:rPr>
              <a:t>🩺 상담원 → 농인 환자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48056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D6EBC9"/>
                </a:solidFill>
                <a:latin typeface="Noto Sans CJK KR"/>
              </a:rPr>
              <a:t>음성 입력
→ STT 변환
→ 화면 출력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539496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5B9A38"/>
                </a:solidFill>
                <a:latin typeface="Noto Sans CJK KR"/>
              </a:rPr>
              <a:t>💌 종료 후 자동 요약 발송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989320"/>
            <a:ext cx="11247120" cy="365760"/>
          </a:xfrm>
          <a:prstGeom prst="roundRect">
            <a:avLst>
              <a:gd name="adj" fmla="val 30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604418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Noto Sans CJK KR"/>
              </a:rPr>
              <a:t>STT는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청각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안내가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닿지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않는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농인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환자에게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즉시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시각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정보를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전달하는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핵심</a:t>
            </a:r>
            <a:r>
              <a:rPr sz="110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</a:rPr>
              <a:t>통로입니다</a:t>
            </a:r>
            <a:endParaRPr sz="1100" b="1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11480" y="654710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Team Project  ·  병원 환경 양방향 수어 통역 키오스크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5B9A38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D8594"/>
                </a:solidFill>
                <a:latin typeface="Arial"/>
              </a:rPr>
              <a:t>PROCEDURE</a:t>
            </a:r>
          </a:p>
        </p:txBody>
      </p:sp>
      <p:sp>
        <p:nvSpPr>
          <p:cNvPr id="4" name="Oval 3"/>
          <p:cNvSpPr/>
          <p:nvPr/>
        </p:nvSpPr>
        <p:spPr>
          <a:xfrm>
            <a:off x="11384280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03152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22024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84280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03152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22024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84280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03152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22024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D2C19"/>
                </a:solidFill>
                <a:latin typeface="Noto Sans CJK KR"/>
              </a:rPr>
              <a:t>수어 인식 모델 학습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D8594"/>
                </a:solidFill>
                <a:latin typeface="Noto Sans CJK KR"/>
              </a:rPr>
              <a:t>MediaPipe 좌표 시퀀스 기반 분류 모델의 학습 성능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0530" y="2468880"/>
            <a:ext cx="1773269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90530" y="2651760"/>
            <a:ext cx="177326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D8594"/>
                </a:solidFill>
                <a:latin typeface="Noto Sans CJK KR"/>
              </a:rPr>
              <a:t>정확도 /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0530" y="2971800"/>
            <a:ext cx="177326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5B9A38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0530" y="3657600"/>
            <a:ext cx="177326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1515A"/>
                </a:solidFill>
                <a:latin typeface="Noto Sans CJK KR"/>
              </a:rPr>
              <a:t>Test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51372" y="2468880"/>
            <a:ext cx="1773269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51372" y="2651760"/>
            <a:ext cx="177326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D8594"/>
                </a:solidFill>
                <a:latin typeface="Noto Sans CJK KR"/>
              </a:rPr>
              <a:t>손실 /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1372" y="2971800"/>
            <a:ext cx="177326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5B9A38"/>
                </a:solidFill>
                <a:latin typeface="Arial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1372" y="3657600"/>
            <a:ext cx="177326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1515A"/>
                </a:solidFill>
                <a:latin typeface="Noto Sans CJK KR"/>
              </a:rPr>
              <a:t>최종 Validation Loss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2215" y="2468880"/>
            <a:ext cx="1773269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12215" y="2651760"/>
            <a:ext cx="177326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D8594"/>
                </a:solidFill>
                <a:latin typeface="Noto Sans CJK KR"/>
              </a:rPr>
              <a:t>학습 단어 수 / 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2215" y="2971800"/>
            <a:ext cx="177326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5B9A38"/>
                </a:solidFill>
                <a:latin typeface="Arial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2215" y="3657600"/>
            <a:ext cx="177326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1515A"/>
                </a:solidFill>
                <a:latin typeface="Noto Sans CJK KR"/>
              </a:rPr>
              <a:t>최종 학습 단어 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1051" y="2468880"/>
            <a:ext cx="1773269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1051" y="2651760"/>
            <a:ext cx="177326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6D8594"/>
                </a:solidFill>
                <a:latin typeface="Noto Sans CJK KR"/>
              </a:rPr>
              <a:t>Epoch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1051" y="2971800"/>
            <a:ext cx="177326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>
                <a:solidFill>
                  <a:srgbClr val="5B9A38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1051" y="3657600"/>
            <a:ext cx="177326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41515A"/>
                </a:solidFill>
                <a:latin typeface="Noto Sans CJK KR"/>
              </a:rPr>
              <a:t>총 학습 Epoch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43484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B9A38"/>
                </a:solidFill>
                <a:latin typeface="Noto Sans CJK KR"/>
              </a:rPr>
              <a:t>📊 학습 곡선 / Loss &amp; Accuracy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43484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5B9A38"/>
                </a:solidFill>
                <a:latin typeface="Noto Sans CJK KR"/>
              </a:rPr>
              <a:t>🎯 Confusion Matrix / 분류 결과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4710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Team Project  ·  병원 환경 양방향 수어 통역 키오스크</a:t>
            </a:r>
          </a:p>
        </p:txBody>
      </p:sp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16940272-E98A-8412-CA74-AA5B6CF9E1EB}"/>
              </a:ext>
            </a:extLst>
          </p:cNvPr>
          <p:cNvSpPr/>
          <p:nvPr/>
        </p:nvSpPr>
        <p:spPr>
          <a:xfrm>
            <a:off x="487680" y="2468880"/>
            <a:ext cx="1773269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CE1D0D-85E7-43AD-71F8-0913FF23B0F4}"/>
              </a:ext>
            </a:extLst>
          </p:cNvPr>
          <p:cNvSpPr txBox="1"/>
          <p:nvPr/>
        </p:nvSpPr>
        <p:spPr>
          <a:xfrm>
            <a:off x="487680" y="2651760"/>
            <a:ext cx="177326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050" b="0" dirty="0">
                <a:solidFill>
                  <a:srgbClr val="6D8594"/>
                </a:solidFill>
                <a:latin typeface="Noto Sans CJK KR"/>
              </a:rPr>
              <a:t>학습모델</a:t>
            </a:r>
            <a:r>
              <a:rPr sz="1050" b="0" dirty="0">
                <a:solidFill>
                  <a:srgbClr val="6D8594"/>
                </a:solidFill>
                <a:latin typeface="Noto Sans CJK KR"/>
              </a:rPr>
              <a:t> / </a:t>
            </a:r>
            <a:r>
              <a:rPr lang="en-US" sz="1050" b="0" dirty="0">
                <a:solidFill>
                  <a:srgbClr val="6D8594"/>
                </a:solidFill>
                <a:latin typeface="Noto Sans CJK KR"/>
              </a:rPr>
              <a:t>Model</a:t>
            </a:r>
            <a:endParaRPr sz="1050" b="0" dirty="0">
              <a:solidFill>
                <a:srgbClr val="6D8594"/>
              </a:solidFill>
              <a:latin typeface="Noto Sans CJK K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1A8F14-6032-EB35-0D0A-08D8B70BF6F1}"/>
              </a:ext>
            </a:extLst>
          </p:cNvPr>
          <p:cNvSpPr txBox="1"/>
          <p:nvPr/>
        </p:nvSpPr>
        <p:spPr>
          <a:xfrm>
            <a:off x="487680" y="2971800"/>
            <a:ext cx="177326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dirty="0">
                <a:solidFill>
                  <a:srgbClr val="5B9A38"/>
                </a:solidFill>
                <a:latin typeface="Arial"/>
              </a:rPr>
              <a:t>—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9FABF6-94C5-712C-000A-01F3032C5B4B}"/>
              </a:ext>
            </a:extLst>
          </p:cNvPr>
          <p:cNvSpPr txBox="1"/>
          <p:nvPr/>
        </p:nvSpPr>
        <p:spPr>
          <a:xfrm>
            <a:off x="487680" y="3657600"/>
            <a:ext cx="177326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50" b="0" dirty="0">
                <a:solidFill>
                  <a:srgbClr val="41515A"/>
                </a:solidFill>
                <a:latin typeface="Noto Sans CJK KR"/>
              </a:rPr>
              <a:t>Model Name</a:t>
            </a:r>
            <a:endParaRPr sz="950" b="0" dirty="0">
              <a:solidFill>
                <a:srgbClr val="41515A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5B9A38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D8594"/>
                </a:solidFill>
                <a:latin typeface="Arial"/>
              </a:rPr>
              <a:t>PROCEDURE</a:t>
            </a:r>
          </a:p>
        </p:txBody>
      </p:sp>
      <p:sp>
        <p:nvSpPr>
          <p:cNvPr id="4" name="Oval 3"/>
          <p:cNvSpPr/>
          <p:nvPr/>
        </p:nvSpPr>
        <p:spPr>
          <a:xfrm>
            <a:off x="11384280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03152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22024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84280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03152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22024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84280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03152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22024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D2C19"/>
                </a:solidFill>
                <a:latin typeface="Noto Sans CJK KR"/>
              </a:rPr>
              <a:t>시연 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D8594"/>
                </a:solidFill>
                <a:latin typeface="Noto Sans CJK KR"/>
              </a:rPr>
              <a:t>병원 키오스크 환경에서의 양방향 수어 통역 데모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23160"/>
            <a:ext cx="77724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5B9A38"/>
                </a:solidFill>
                <a:latin typeface="Noto Sans CJK KR"/>
              </a:rPr>
              <a:t>🖥️  실시간 데모 화면 캡처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D8594"/>
                </a:solidFill>
                <a:latin typeface="Noto Sans CJK KR"/>
              </a:rPr>
              <a:t>(시연 영상 GIF 또는 스크린샷 삽입 예정)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423160"/>
            <a:ext cx="3246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0" y="2606040"/>
            <a:ext cx="457200" cy="457200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267004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60604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D2C19"/>
                </a:solidFill>
                <a:latin typeface="Noto Sans CJK KR"/>
              </a:rPr>
              <a:t>접수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10896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1515A"/>
                </a:solidFill>
                <a:latin typeface="Noto Sans CJK KR"/>
              </a:rPr>
              <a:t>「저 + 환자」 수어 인식 → 접수 의도 분류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3794760"/>
            <a:ext cx="3246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86800" y="3977640"/>
            <a:ext cx="457200" cy="457200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404164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97764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D2C19"/>
                </a:solidFill>
                <a:latin typeface="Noto Sans CJK KR"/>
              </a:rPr>
              <a:t>증상 설명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48056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1515A"/>
                </a:solidFill>
                <a:latin typeface="Noto Sans CJK KR"/>
              </a:rPr>
              <a:t>「저 + 머리 + 아프다」 → 자연어 문장 생성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5166360"/>
            <a:ext cx="3246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686800" y="5349240"/>
            <a:ext cx="457200" cy="457200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0" y="541324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5349240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D2C19"/>
                </a:solidFill>
                <a:latin typeface="Noto Sans CJK KR"/>
              </a:rPr>
              <a:t>검사 요청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585216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1515A"/>
                </a:solidFill>
                <a:latin typeface="Noto Sans CJK KR"/>
              </a:rPr>
              <a:t>「저 + 검사 + 받다 + 원하다」 → 상담원 STT 응답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4710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Team Project  ·  병원 환경 양방향 수어 통역 키오스크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5B9A38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D8594"/>
                </a:solidFill>
                <a:latin typeface="Arial"/>
              </a:rPr>
              <a:t>EVALUATION</a:t>
            </a:r>
          </a:p>
        </p:txBody>
      </p:sp>
      <p:sp>
        <p:nvSpPr>
          <p:cNvPr id="4" name="Oval 3"/>
          <p:cNvSpPr/>
          <p:nvPr/>
        </p:nvSpPr>
        <p:spPr>
          <a:xfrm>
            <a:off x="11384280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03152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22024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84280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03152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22024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84280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03152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22024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1D2C19"/>
                </a:solidFill>
                <a:latin typeface="Noto Sans CJK KR"/>
              </a:rPr>
              <a:t>프로젝트</a:t>
            </a:r>
            <a:r>
              <a:rPr sz="2800" b="1" dirty="0">
                <a:solidFill>
                  <a:srgbClr val="1D2C19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D2C19"/>
                </a:solidFill>
                <a:latin typeface="Noto Sans CJK KR"/>
              </a:rPr>
              <a:t>성과</a:t>
            </a:r>
            <a:r>
              <a:rPr sz="2800" b="1" dirty="0">
                <a:solidFill>
                  <a:srgbClr val="1D2C19"/>
                </a:solidFill>
                <a:latin typeface="Noto Sans CJK KR"/>
              </a:rPr>
              <a:t> 및 </a:t>
            </a:r>
            <a:r>
              <a:rPr sz="2800" b="1" dirty="0" err="1">
                <a:solidFill>
                  <a:srgbClr val="1D2C19"/>
                </a:solidFill>
                <a:latin typeface="Noto Sans CJK KR"/>
              </a:rPr>
              <a:t>한계점</a:t>
            </a:r>
            <a:endParaRPr sz="2800" b="1" dirty="0">
              <a:solidFill>
                <a:srgbClr val="1D2C19"/>
              </a:solidFill>
              <a:latin typeface="Noto Sans CJK K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6D8594"/>
                </a:solidFill>
                <a:latin typeface="Noto Sans CJK KR"/>
              </a:rPr>
              <a:t>팀이</a:t>
            </a:r>
            <a:r>
              <a:rPr sz="1300" b="0" dirty="0">
                <a:solidFill>
                  <a:srgbClr val="6D8594"/>
                </a:solidFill>
                <a:latin typeface="Noto Sans CJK KR"/>
              </a:rPr>
              <a:t> </a:t>
            </a:r>
            <a:r>
              <a:rPr sz="1300" b="0" dirty="0" err="1">
                <a:solidFill>
                  <a:srgbClr val="6D8594"/>
                </a:solidFill>
                <a:latin typeface="Noto Sans CJK KR"/>
              </a:rPr>
              <a:t>달성한</a:t>
            </a:r>
            <a:r>
              <a:rPr sz="1300" b="0" dirty="0">
                <a:solidFill>
                  <a:srgbClr val="6D8594"/>
                </a:solidFill>
                <a:latin typeface="Noto Sans CJK KR"/>
              </a:rPr>
              <a:t> 것, </a:t>
            </a:r>
            <a:r>
              <a:rPr sz="1300" b="0" dirty="0" err="1">
                <a:solidFill>
                  <a:srgbClr val="6D8594"/>
                </a:solidFill>
                <a:latin typeface="Noto Sans CJK KR"/>
              </a:rPr>
              <a:t>그리고</a:t>
            </a:r>
            <a:r>
              <a:rPr sz="1300" b="0" dirty="0">
                <a:solidFill>
                  <a:srgbClr val="6D8594"/>
                </a:solidFill>
                <a:latin typeface="Noto Sans CJK KR"/>
              </a:rPr>
              <a:t> </a:t>
            </a:r>
            <a:r>
              <a:rPr sz="1300" b="0" dirty="0" err="1">
                <a:solidFill>
                  <a:srgbClr val="6D8594"/>
                </a:solidFill>
                <a:latin typeface="Noto Sans CJK KR"/>
              </a:rPr>
              <a:t>솔직하게</a:t>
            </a:r>
            <a:r>
              <a:rPr sz="1300" b="0" dirty="0">
                <a:solidFill>
                  <a:srgbClr val="6D8594"/>
                </a:solidFill>
                <a:latin typeface="Noto Sans CJK KR"/>
              </a:rPr>
              <a:t> </a:t>
            </a:r>
            <a:r>
              <a:rPr sz="1300" b="0" dirty="0" err="1">
                <a:solidFill>
                  <a:srgbClr val="6D8594"/>
                </a:solidFill>
                <a:latin typeface="Noto Sans CJK KR"/>
              </a:rPr>
              <a:t>마주한</a:t>
            </a:r>
            <a:r>
              <a:rPr sz="1300" b="0" dirty="0">
                <a:solidFill>
                  <a:srgbClr val="6D8594"/>
                </a:solidFill>
                <a:latin typeface="Noto Sans CJK KR"/>
              </a:rPr>
              <a:t> </a:t>
            </a:r>
            <a:r>
              <a:rPr sz="1300" b="0" dirty="0" err="1">
                <a:solidFill>
                  <a:srgbClr val="6D8594"/>
                </a:solidFill>
                <a:latin typeface="Noto Sans CJK KR"/>
              </a:rPr>
              <a:t>제약</a:t>
            </a:r>
            <a:endParaRPr sz="1300" b="0" dirty="0">
              <a:solidFill>
                <a:srgbClr val="6D8594"/>
              </a:solidFill>
              <a:latin typeface="Noto Sans CJK K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7200" y="2359042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542032"/>
            <a:ext cx="5029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✓  성과 (Achievements)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264408"/>
            <a:ext cx="164592" cy="164592"/>
          </a:xfrm>
          <a:prstGeom prst="ellipse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1546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Noto Sans CJK KR"/>
              </a:rPr>
              <a:t>MediaPipe 좌표 기반 일반화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47288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D6EBC9"/>
                </a:solidFill>
                <a:latin typeface="Noto Sans CJK KR"/>
              </a:rPr>
              <a:t>픽셀 학습 대비 카메라·배경에 강건한 입력 설계 확보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041648"/>
            <a:ext cx="164592" cy="164592"/>
          </a:xfrm>
          <a:prstGeom prst="ellipse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931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Noto Sans CJK KR"/>
              </a:rPr>
              <a:t>STT 양방향 흐름 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24528"/>
            <a:ext cx="47548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D6EBC9"/>
                </a:solidFill>
                <a:latin typeface="Noto Sans CJK KR"/>
              </a:rPr>
              <a:t>농인</a:t>
            </a:r>
            <a:r>
              <a:rPr sz="950" b="0" dirty="0">
                <a:solidFill>
                  <a:srgbClr val="D6EBC9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호출부터</a:t>
            </a:r>
            <a:r>
              <a:rPr sz="950" b="0" dirty="0">
                <a:solidFill>
                  <a:srgbClr val="D6EBC9"/>
                </a:solidFill>
                <a:latin typeface="Noto Sans CJK KR"/>
              </a:rPr>
              <a:t> </a:t>
            </a:r>
            <a:r>
              <a:rPr lang="ko-KR" altLang="en-US" sz="950" b="0" dirty="0">
                <a:solidFill>
                  <a:srgbClr val="D6EBC9"/>
                </a:solidFill>
                <a:latin typeface="Noto Sans CJK KR"/>
              </a:rPr>
              <a:t>이메일 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요약</a:t>
            </a:r>
            <a:r>
              <a:rPr sz="950" b="0" dirty="0">
                <a:solidFill>
                  <a:srgbClr val="D6EBC9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발송까지</a:t>
            </a:r>
            <a:r>
              <a:rPr sz="950" b="0" dirty="0">
                <a:solidFill>
                  <a:srgbClr val="D6EBC9"/>
                </a:solidFill>
                <a:latin typeface="Noto Sans CJK KR"/>
              </a:rPr>
              <a:t> end-to-end 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검증</a:t>
            </a:r>
            <a:endParaRPr sz="950" b="0" dirty="0">
              <a:solidFill>
                <a:srgbClr val="D6EBC9"/>
              </a:solidFill>
              <a:latin typeface="Noto Sans CJK KR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77240" y="4818888"/>
            <a:ext cx="164592" cy="164592"/>
          </a:xfrm>
          <a:prstGeom prst="ellipse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709159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Noto Sans CJK KR"/>
              </a:rPr>
              <a:t>의료 시나리오 단어 커버리지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001768"/>
            <a:ext cx="47548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>
                <a:solidFill>
                  <a:srgbClr val="D6EBC9"/>
                </a:solidFill>
                <a:latin typeface="Noto Sans CJK KR"/>
              </a:rPr>
              <a:t>MVP 8개에서 1,723개로 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확장</a:t>
            </a:r>
            <a:endParaRPr sz="950" b="0" dirty="0">
              <a:solidFill>
                <a:srgbClr val="D6EBC9"/>
              </a:solidFill>
              <a:latin typeface="Noto Sans CJK KR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77240" y="5596127"/>
            <a:ext cx="164592" cy="164592"/>
          </a:xfrm>
          <a:prstGeom prst="ellipse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486399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Noto Sans CJK KR"/>
              </a:rPr>
              <a:t>팀 환경 표준화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779007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D6EBC9"/>
                </a:solidFill>
                <a:latin typeface="Noto Sans CJK KR"/>
              </a:rPr>
              <a:t>공통</a:t>
            </a:r>
            <a:r>
              <a:rPr sz="950" b="0" dirty="0">
                <a:solidFill>
                  <a:srgbClr val="D6EBC9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라이브러리</a:t>
            </a:r>
            <a:r>
              <a:rPr sz="950" b="0" dirty="0">
                <a:solidFill>
                  <a:srgbClr val="D6EBC9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버전·분기</a:t>
            </a:r>
            <a:r>
              <a:rPr sz="950" b="0" dirty="0">
                <a:solidFill>
                  <a:srgbClr val="D6EBC9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전략으로</a:t>
            </a:r>
            <a:r>
              <a:rPr sz="950" b="0" dirty="0">
                <a:solidFill>
                  <a:srgbClr val="D6EBC9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전처리</a:t>
            </a:r>
            <a:r>
              <a:rPr sz="950" b="0" dirty="0">
                <a:solidFill>
                  <a:srgbClr val="D6EBC9"/>
                </a:solidFill>
                <a:latin typeface="Noto Sans CJK KR"/>
              </a:rPr>
              <a:t>/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추론</a:t>
            </a:r>
            <a:r>
              <a:rPr sz="950" b="0" dirty="0">
                <a:solidFill>
                  <a:srgbClr val="D6EBC9"/>
                </a:solidFill>
                <a:latin typeface="Noto Sans CJK KR"/>
              </a:rPr>
              <a:t> gap </a:t>
            </a:r>
            <a:r>
              <a:rPr sz="950" b="0" dirty="0" err="1">
                <a:solidFill>
                  <a:srgbClr val="D6EBC9"/>
                </a:solidFill>
                <a:latin typeface="Noto Sans CJK KR"/>
              </a:rPr>
              <a:t>최소화</a:t>
            </a:r>
            <a:endParaRPr sz="950" b="0" dirty="0">
              <a:solidFill>
                <a:srgbClr val="D6EBC9"/>
              </a:solidFill>
              <a:latin typeface="Noto Sans CJK KR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17920" y="237744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537960" y="2542032"/>
            <a:ext cx="5029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5B9A38"/>
                </a:solidFill>
                <a:latin typeface="Noto Sans CJK KR"/>
              </a:rPr>
              <a:t>△  </a:t>
            </a:r>
            <a:r>
              <a:rPr sz="1500" b="1" dirty="0" err="1">
                <a:solidFill>
                  <a:srgbClr val="5B9A38"/>
                </a:solidFill>
                <a:latin typeface="Noto Sans CJK KR"/>
              </a:rPr>
              <a:t>한계점</a:t>
            </a:r>
            <a:r>
              <a:rPr sz="1500" b="1" dirty="0">
                <a:solidFill>
                  <a:srgbClr val="5B9A38"/>
                </a:solidFill>
                <a:latin typeface="Noto Sans CJK KR"/>
              </a:rPr>
              <a:t> (Limitations)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3264408"/>
            <a:ext cx="164592" cy="164592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80" y="31546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dirty="0" err="1">
                <a:solidFill>
                  <a:srgbClr val="1D2C19"/>
                </a:solidFill>
                <a:latin typeface="Noto Sans CJK KR"/>
              </a:rPr>
              <a:t>데이터</a:t>
            </a:r>
            <a:r>
              <a:rPr sz="1150" b="1" dirty="0">
                <a:solidFill>
                  <a:srgbClr val="1D2C19"/>
                </a:solidFill>
                <a:latin typeface="Noto Sans CJK KR"/>
              </a:rPr>
              <a:t> </a:t>
            </a:r>
            <a:r>
              <a:rPr sz="1150" b="1" dirty="0" err="1">
                <a:solidFill>
                  <a:srgbClr val="1D2C19"/>
                </a:solidFill>
                <a:latin typeface="Noto Sans CJK KR"/>
              </a:rPr>
              <a:t>다양성</a:t>
            </a:r>
            <a:r>
              <a:rPr sz="1150" b="1" dirty="0">
                <a:solidFill>
                  <a:srgbClr val="1D2C19"/>
                </a:solidFill>
                <a:latin typeface="Noto Sans CJK KR"/>
              </a:rPr>
              <a:t> </a:t>
            </a:r>
            <a:r>
              <a:rPr sz="1150" b="1" dirty="0" err="1">
                <a:solidFill>
                  <a:srgbClr val="1D2C19"/>
                </a:solidFill>
                <a:latin typeface="Noto Sans CJK KR"/>
              </a:rPr>
              <a:t>부족</a:t>
            </a:r>
            <a:endParaRPr sz="1150" b="1" dirty="0">
              <a:solidFill>
                <a:srgbClr val="1D2C19"/>
              </a:solidFill>
              <a:latin typeface="Noto Sans CJK K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12280" y="3447288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41515A"/>
                </a:solidFill>
                <a:latin typeface="Noto Sans CJK KR"/>
              </a:rPr>
              <a:t>특정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화자·각도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위주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데이터로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편향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가능성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존재</a:t>
            </a:r>
            <a:endParaRPr sz="950" b="0" dirty="0">
              <a:solidFill>
                <a:srgbClr val="41515A"/>
              </a:solidFill>
              <a:latin typeface="Noto Sans CJK KR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537960" y="4041648"/>
            <a:ext cx="164592" cy="164592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12280" y="3931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D2C19"/>
                </a:solidFill>
                <a:latin typeface="Noto Sans CJK KR"/>
              </a:rPr>
              <a:t>실시간 처리 지연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224528"/>
            <a:ext cx="47548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950" dirty="0">
                <a:solidFill>
                  <a:srgbClr val="41515A"/>
                </a:solidFill>
              </a:rPr>
              <a:t>카메라 → 추출 → 추론 파이프라인의 </a:t>
            </a:r>
            <a:r>
              <a:rPr lang="en-US" altLang="ko-KR" sz="950" dirty="0">
                <a:solidFill>
                  <a:srgbClr val="41515A"/>
                </a:solidFill>
              </a:rPr>
              <a:t>latency </a:t>
            </a:r>
            <a:r>
              <a:rPr lang="ko-KR" altLang="en-US" sz="950" dirty="0">
                <a:solidFill>
                  <a:srgbClr val="41515A"/>
                </a:solidFill>
              </a:rPr>
              <a:t>추가 최적화 필요</a:t>
            </a:r>
          </a:p>
        </p:txBody>
      </p:sp>
      <p:sp>
        <p:nvSpPr>
          <p:cNvPr id="37" name="Oval 36"/>
          <p:cNvSpPr/>
          <p:nvPr/>
        </p:nvSpPr>
        <p:spPr>
          <a:xfrm>
            <a:off x="6537960" y="4818888"/>
            <a:ext cx="164592" cy="164592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12280" y="4709159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D2C19"/>
                </a:solidFill>
                <a:latin typeface="Noto Sans CJK KR"/>
              </a:rPr>
              <a:t>문맥 단위 통역 한계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001768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dirty="0" err="1">
                <a:solidFill>
                  <a:srgbClr val="41515A"/>
                </a:solidFill>
                <a:latin typeface="Noto Sans CJK KR"/>
              </a:rPr>
              <a:t>단어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단위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매핑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위주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,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문장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어순·조사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자연스러움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개선</a:t>
            </a:r>
            <a:r>
              <a:rPr sz="95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950" b="0" dirty="0" err="1">
                <a:solidFill>
                  <a:srgbClr val="41515A"/>
                </a:solidFill>
                <a:latin typeface="Noto Sans CJK KR"/>
              </a:rPr>
              <a:t>필요</a:t>
            </a:r>
            <a:endParaRPr sz="950" b="0" dirty="0">
              <a:solidFill>
                <a:srgbClr val="41515A"/>
              </a:solidFill>
              <a:latin typeface="Noto Sans CJK KR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537960" y="5596127"/>
            <a:ext cx="164592" cy="164592"/>
          </a:xfrm>
          <a:prstGeom prst="ellipse">
            <a:avLst/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12280" y="5486399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D2C19"/>
                </a:solidFill>
                <a:latin typeface="Noto Sans CJK KR"/>
              </a:rPr>
              <a:t>STT 의료 용어 정확도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5779007"/>
            <a:ext cx="47548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950" dirty="0">
                <a:solidFill>
                  <a:srgbClr val="41515A"/>
                </a:solidFill>
              </a:rPr>
              <a:t>전문 용어</a:t>
            </a:r>
            <a:r>
              <a:rPr lang="en-US" altLang="ko-KR" sz="950" dirty="0">
                <a:solidFill>
                  <a:srgbClr val="41515A"/>
                </a:solidFill>
              </a:rPr>
              <a:t>·</a:t>
            </a:r>
            <a:r>
              <a:rPr lang="ko-KR" altLang="en-US" sz="950" dirty="0">
                <a:solidFill>
                  <a:srgbClr val="41515A"/>
                </a:solidFill>
              </a:rPr>
              <a:t>약어 인식 오류 시 사후 보정 사전 보강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4710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Team Project  ·  병원 환경 양방향 수어 통역 키오스크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5B9A38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D8594"/>
                </a:solidFill>
                <a:latin typeface="Arial"/>
              </a:rPr>
              <a:t>EVALUATION</a:t>
            </a:r>
          </a:p>
        </p:txBody>
      </p:sp>
      <p:sp>
        <p:nvSpPr>
          <p:cNvPr id="4" name="Oval 3"/>
          <p:cNvSpPr/>
          <p:nvPr/>
        </p:nvSpPr>
        <p:spPr>
          <a:xfrm>
            <a:off x="11384280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03152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22024" y="274320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84280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03152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22024" y="393192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84280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03152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22024" y="512064"/>
            <a:ext cx="64008" cy="64008"/>
          </a:xfrm>
          <a:prstGeom prst="ellipse">
            <a:avLst/>
          </a:prstGeom>
          <a:solidFill>
            <a:srgbClr val="B7D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D2C19"/>
                </a:solidFill>
                <a:latin typeface="Noto Sans CJK KR"/>
              </a:rPr>
              <a:t>향후 개선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D8594"/>
                </a:solidFill>
                <a:latin typeface="Noto Sans CJK KR"/>
              </a:rPr>
              <a:t>현재의 한계를 메우고 실제 의료 현장에 더 가까이 가기 위한 다음 단계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77440"/>
            <a:ext cx="55321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" y="2606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706624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Noto Sans CJK KR"/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606040"/>
            <a:ext cx="4343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2C19"/>
                </a:solidFill>
                <a:latin typeface="Noto Sans CJK KR"/>
              </a:rPr>
              <a:t>데이터 다양화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44368"/>
            <a:ext cx="4343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1515A"/>
                </a:solidFill>
                <a:latin typeface="Noto Sans CJK KR"/>
              </a:rPr>
              <a:t>다양한 화자·연령·각도 데이터를 추가 수집해 모델 일반화 성능 향상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5B9A38"/>
                </a:solidFill>
                <a:latin typeface="Noto Sans CJK KR"/>
              </a:rPr>
              <a:t>▸ 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연령·성별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균형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 · 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조명·각도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변동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 · 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수어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사투리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반영</a:t>
            </a:r>
            <a:endParaRPr sz="1000" b="1" dirty="0">
              <a:solidFill>
                <a:srgbClr val="5B9A38"/>
              </a:solidFill>
              <a:latin typeface="Noto Sans CJK KR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2377440"/>
            <a:ext cx="55321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0" y="2606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706624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dirty="0">
                <a:solidFill>
                  <a:srgbClr val="FFFFFF"/>
                </a:solidFill>
                <a:latin typeface="Noto Sans CJK KR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606040"/>
            <a:ext cx="4343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2C19"/>
                </a:solidFill>
                <a:latin typeface="Noto Sans CJK KR"/>
              </a:rPr>
              <a:t>추론 경량화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944368"/>
            <a:ext cx="4343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1515A"/>
                </a:solidFill>
                <a:latin typeface="Noto Sans CJK KR"/>
              </a:rPr>
              <a:t>온디바이스 실시간 처리를 위한 모델 압축 및 파이프라인 최적화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94760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B9A38"/>
                </a:solidFill>
                <a:latin typeface="Noto Sans CJK KR"/>
              </a:rPr>
              <a:t>▸  TFLite·ONNX 변환  ·  프레임 샘플링  ·  GPU/엣지 디바이스 분기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80560"/>
            <a:ext cx="55321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5800" y="47091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809744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Noto Sans CJK KR"/>
              </a:rPr>
              <a:t>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709160"/>
            <a:ext cx="4343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1D2C19"/>
                </a:solidFill>
                <a:latin typeface="Noto Sans CJK KR"/>
              </a:rPr>
              <a:t>문장</a:t>
            </a:r>
            <a:r>
              <a:rPr sz="1400" b="1" dirty="0">
                <a:solidFill>
                  <a:srgbClr val="1D2C19"/>
                </a:solidFill>
                <a:latin typeface="Noto Sans CJK KR"/>
              </a:rPr>
              <a:t> </a:t>
            </a:r>
            <a:r>
              <a:rPr sz="1400" b="1" dirty="0" err="1">
                <a:solidFill>
                  <a:srgbClr val="1D2C19"/>
                </a:solidFill>
                <a:latin typeface="Noto Sans CJK KR"/>
              </a:rPr>
              <a:t>단위</a:t>
            </a:r>
            <a:r>
              <a:rPr sz="1400" b="1" dirty="0">
                <a:solidFill>
                  <a:srgbClr val="1D2C19"/>
                </a:solidFill>
                <a:latin typeface="Noto Sans CJK KR"/>
              </a:rPr>
              <a:t> </a:t>
            </a:r>
            <a:r>
              <a:rPr sz="1400" b="1" dirty="0" err="1">
                <a:solidFill>
                  <a:srgbClr val="1D2C19"/>
                </a:solidFill>
                <a:latin typeface="Noto Sans CJK KR"/>
              </a:rPr>
              <a:t>통역</a:t>
            </a:r>
            <a:endParaRPr sz="1400" b="1" dirty="0">
              <a:solidFill>
                <a:srgbClr val="1D2C19"/>
              </a:solidFill>
              <a:latin typeface="Noto Sans CJK KR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63040" y="5047488"/>
            <a:ext cx="4343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41515A"/>
                </a:solidFill>
                <a:latin typeface="Noto Sans CJK KR"/>
              </a:rPr>
              <a:t>단어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시퀀스를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자연스러운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한국어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문장으로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매끄럽게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변환</a:t>
            </a:r>
            <a:endParaRPr sz="1000" b="0" dirty="0">
              <a:solidFill>
                <a:srgbClr val="41515A"/>
              </a:solidFill>
              <a:latin typeface="Noto Sans CJK K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1520" y="5897880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5B9A38"/>
                </a:solidFill>
                <a:latin typeface="Noto Sans CJK KR"/>
              </a:rPr>
              <a:t>▸ 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소형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LLM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후처리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 · 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조사·어미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보정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 · 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의료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의도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분류</a:t>
            </a:r>
            <a:endParaRPr sz="1000" b="1" dirty="0">
              <a:solidFill>
                <a:srgbClr val="5B9A38"/>
              </a:solidFill>
              <a:latin typeface="Noto Sans CJK KR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172200" y="4480560"/>
            <a:ext cx="55321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00800" y="47091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5B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809744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Noto Sans CJK KR"/>
              </a:rPr>
              <a:t>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709160"/>
            <a:ext cx="4343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1D2C19"/>
                </a:solidFill>
                <a:latin typeface="Noto Sans CJK KR"/>
              </a:rPr>
              <a:t>의료</a:t>
            </a:r>
            <a:r>
              <a:rPr sz="1400" b="1" dirty="0">
                <a:solidFill>
                  <a:srgbClr val="1D2C19"/>
                </a:solidFill>
                <a:latin typeface="Noto Sans CJK KR"/>
              </a:rPr>
              <a:t> </a:t>
            </a:r>
            <a:r>
              <a:rPr sz="1400" b="1" dirty="0" err="1">
                <a:solidFill>
                  <a:srgbClr val="1D2C19"/>
                </a:solidFill>
                <a:latin typeface="Noto Sans CJK KR"/>
              </a:rPr>
              <a:t>도메인</a:t>
            </a:r>
            <a:r>
              <a:rPr sz="1400" b="1" dirty="0">
                <a:solidFill>
                  <a:srgbClr val="1D2C19"/>
                </a:solidFill>
                <a:latin typeface="Noto Sans CJK KR"/>
              </a:rPr>
              <a:t> </a:t>
            </a:r>
            <a:r>
              <a:rPr sz="1400" b="1" dirty="0" err="1">
                <a:solidFill>
                  <a:srgbClr val="1D2C19"/>
                </a:solidFill>
                <a:latin typeface="Noto Sans CJK KR"/>
              </a:rPr>
              <a:t>확장</a:t>
            </a:r>
            <a:endParaRPr sz="1400" b="1" dirty="0">
              <a:solidFill>
                <a:srgbClr val="1D2C19"/>
              </a:solidFill>
              <a:latin typeface="Noto Sans CJK KR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178040" y="5047488"/>
            <a:ext cx="43434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 err="1">
                <a:solidFill>
                  <a:srgbClr val="41515A"/>
                </a:solidFill>
                <a:latin typeface="Noto Sans CJK KR"/>
              </a:rPr>
              <a:t>병원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외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약국·검진센터·응급실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시나리오까지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커버리지</a:t>
            </a:r>
            <a:r>
              <a:rPr sz="1000" b="0" dirty="0">
                <a:solidFill>
                  <a:srgbClr val="41515A"/>
                </a:solidFill>
                <a:latin typeface="Noto Sans CJK KR"/>
              </a:rPr>
              <a:t> </a:t>
            </a:r>
            <a:r>
              <a:rPr sz="1000" b="0" dirty="0" err="1">
                <a:solidFill>
                  <a:srgbClr val="41515A"/>
                </a:solidFill>
                <a:latin typeface="Noto Sans CJK KR"/>
              </a:rPr>
              <a:t>확대</a:t>
            </a:r>
            <a:endParaRPr sz="1000" b="0" dirty="0">
              <a:solidFill>
                <a:srgbClr val="41515A"/>
              </a:solidFill>
              <a:latin typeface="Noto Sans CJK KR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46520" y="5897880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5B9A38"/>
                </a:solidFill>
                <a:latin typeface="Noto Sans CJK KR"/>
              </a:rPr>
              <a:t>▸ 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응급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우선순위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 · 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처방·복약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안내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 · 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다국어</a:t>
            </a:r>
            <a:r>
              <a:rPr sz="1000" b="1" dirty="0">
                <a:solidFill>
                  <a:srgbClr val="5B9A38"/>
                </a:solidFill>
                <a:latin typeface="Noto Sans CJK KR"/>
              </a:rPr>
              <a:t> STT </a:t>
            </a:r>
            <a:r>
              <a:rPr sz="1000" b="1" dirty="0" err="1">
                <a:solidFill>
                  <a:srgbClr val="5B9A38"/>
                </a:solidFill>
                <a:latin typeface="Noto Sans CJK KR"/>
              </a:rPr>
              <a:t>연계</a:t>
            </a:r>
            <a:endParaRPr sz="1000" b="1" dirty="0">
              <a:solidFill>
                <a:srgbClr val="5B9A38"/>
              </a:solidFill>
              <a:latin typeface="Noto Sans CJK KR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1480" y="6547104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D8594"/>
                </a:solidFill>
                <a:latin typeface="Noto Sans CJK KR"/>
              </a:rPr>
              <a:t>Team Project  ·  병원 환경 양방향 수어 통역 키오스크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 err="1">
                <a:solidFill>
                  <a:srgbClr val="B7DDA4"/>
                </a:solidFill>
                <a:latin typeface="Noto Sans CJK KR"/>
              </a:rPr>
              <a:t>양방향</a:t>
            </a:r>
            <a:r>
              <a:rPr sz="1800" b="0" dirty="0">
                <a:solidFill>
                  <a:srgbClr val="B7DDA4"/>
                </a:solidFill>
                <a:latin typeface="Noto Sans CJK KR"/>
              </a:rPr>
              <a:t> </a:t>
            </a:r>
            <a:r>
              <a:rPr sz="1800" b="0" dirty="0" err="1">
                <a:solidFill>
                  <a:srgbClr val="B7DDA4"/>
                </a:solidFill>
                <a:latin typeface="Noto Sans CJK KR"/>
              </a:rPr>
              <a:t>수어</a:t>
            </a:r>
            <a:r>
              <a:rPr sz="1800" b="0" dirty="0">
                <a:solidFill>
                  <a:srgbClr val="B7DDA4"/>
                </a:solidFill>
                <a:latin typeface="Noto Sans CJK KR"/>
              </a:rPr>
              <a:t> </a:t>
            </a:r>
            <a:r>
              <a:rPr sz="1800" b="0" dirty="0" err="1">
                <a:solidFill>
                  <a:srgbClr val="B7DDA4"/>
                </a:solidFill>
                <a:latin typeface="Noto Sans CJK KR"/>
              </a:rPr>
              <a:t>통역기</a:t>
            </a:r>
            <a:r>
              <a:rPr sz="1800" b="0" dirty="0">
                <a:solidFill>
                  <a:srgbClr val="B7DDA4"/>
                </a:solidFill>
                <a:latin typeface="Noto Sans CJK KR"/>
              </a:rPr>
              <a:t>  ·  </a:t>
            </a:r>
            <a:r>
              <a:rPr sz="1800" b="0" dirty="0" err="1">
                <a:solidFill>
                  <a:srgbClr val="B7DDA4"/>
                </a:solidFill>
                <a:latin typeface="Noto Sans CJK KR"/>
              </a:rPr>
              <a:t>병원</a:t>
            </a:r>
            <a:r>
              <a:rPr sz="1800" b="0" dirty="0">
                <a:solidFill>
                  <a:srgbClr val="B7DDA4"/>
                </a:solidFill>
                <a:latin typeface="Noto Sans CJK KR"/>
              </a:rPr>
              <a:t> </a:t>
            </a:r>
            <a:r>
              <a:rPr sz="1800" b="0" dirty="0" err="1">
                <a:solidFill>
                  <a:srgbClr val="B7DDA4"/>
                </a:solidFill>
                <a:latin typeface="Noto Sans CJK KR"/>
              </a:rPr>
              <a:t>상담형</a:t>
            </a:r>
            <a:r>
              <a:rPr sz="1800" b="0" dirty="0">
                <a:solidFill>
                  <a:srgbClr val="B7DDA4"/>
                </a:solidFill>
                <a:latin typeface="Noto Sans CJK KR"/>
              </a:rPr>
              <a:t> </a:t>
            </a:r>
            <a:r>
              <a:rPr sz="1800" b="0" dirty="0" err="1">
                <a:solidFill>
                  <a:srgbClr val="B7DDA4"/>
                </a:solidFill>
                <a:latin typeface="Noto Sans CJK KR"/>
              </a:rPr>
              <a:t>키오스크</a:t>
            </a:r>
            <a:endParaRPr sz="1800" b="0" dirty="0">
              <a:solidFill>
                <a:srgbClr val="B7DDA4"/>
              </a:solidFill>
              <a:latin typeface="Noto Sans CJK KR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577840" y="3931920"/>
            <a:ext cx="1005840" cy="36576"/>
          </a:xfrm>
          <a:prstGeom prst="roundRect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dirty="0" err="1">
                <a:solidFill>
                  <a:srgbClr val="D6EBC9"/>
                </a:solidFill>
                <a:latin typeface="Noto Sans CJK KR"/>
              </a:rPr>
              <a:t>수어</a:t>
            </a:r>
            <a:r>
              <a:rPr sz="1300" b="0" dirty="0">
                <a:solidFill>
                  <a:srgbClr val="D6EBC9"/>
                </a:solidFill>
                <a:latin typeface="Noto Sans CJK KR"/>
              </a:rPr>
              <a:t> </a:t>
            </a:r>
            <a:r>
              <a:rPr sz="1300" b="0" dirty="0" err="1">
                <a:solidFill>
                  <a:srgbClr val="D6EBC9"/>
                </a:solidFill>
                <a:latin typeface="Noto Sans CJK KR"/>
              </a:rPr>
              <a:t>인식</a:t>
            </a:r>
            <a:r>
              <a:rPr sz="1300" b="0" dirty="0">
                <a:solidFill>
                  <a:srgbClr val="D6EBC9"/>
                </a:solidFill>
                <a:latin typeface="Noto Sans CJK KR"/>
              </a:rPr>
              <a:t>  |  STT  |  </a:t>
            </a:r>
            <a:r>
              <a:rPr sz="1300" b="0" dirty="0" err="1">
                <a:solidFill>
                  <a:srgbClr val="D6EBC9"/>
                </a:solidFill>
                <a:latin typeface="Noto Sans CJK KR"/>
              </a:rPr>
              <a:t>상담</a:t>
            </a:r>
            <a:r>
              <a:rPr sz="1300" b="0" dirty="0">
                <a:solidFill>
                  <a:srgbClr val="D6EBC9"/>
                </a:solidFill>
                <a:latin typeface="Noto Sans CJK KR"/>
              </a:rPr>
              <a:t> </a:t>
            </a:r>
            <a:r>
              <a:rPr sz="1300" b="0" dirty="0" err="1">
                <a:solidFill>
                  <a:srgbClr val="D6EBC9"/>
                </a:solidFill>
                <a:latin typeface="Noto Sans CJK KR"/>
              </a:rPr>
              <a:t>요약</a:t>
            </a:r>
            <a:r>
              <a:rPr sz="1300" b="0" dirty="0">
                <a:solidFill>
                  <a:srgbClr val="D6EBC9"/>
                </a:solidFill>
                <a:latin typeface="Noto Sans CJK KR"/>
              </a:rPr>
              <a:t>  |  </a:t>
            </a:r>
            <a:r>
              <a:rPr lang="ko-KR" altLang="en-US" sz="1300" b="0" dirty="0">
                <a:solidFill>
                  <a:srgbClr val="D6EBC9"/>
                </a:solidFill>
                <a:latin typeface="Noto Sans CJK KR"/>
              </a:rPr>
              <a:t>카카오톡</a:t>
            </a:r>
            <a:r>
              <a:rPr sz="1300" b="0" dirty="0">
                <a:solidFill>
                  <a:srgbClr val="D6EBC9"/>
                </a:solidFill>
                <a:latin typeface="Noto Sans CJK KR"/>
              </a:rPr>
              <a:t> </a:t>
            </a:r>
            <a:r>
              <a:rPr sz="1300" b="0" dirty="0" err="1">
                <a:solidFill>
                  <a:srgbClr val="D6EBC9"/>
                </a:solidFill>
                <a:latin typeface="Noto Sans CJK KR"/>
              </a:rPr>
              <a:t>알림</a:t>
            </a:r>
            <a:endParaRPr sz="1300" b="0" dirty="0">
              <a:solidFill>
                <a:srgbClr val="D6EBC9"/>
              </a:solidFill>
              <a:latin typeface="Noto Sans CJK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B7DDA4"/>
                </a:solidFill>
                <a:latin typeface="Noto Sans CJK KR"/>
              </a:rPr>
              <a:t>ESTsoft 2팀 — Team Project Presentation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583680"/>
            <a:ext cx="12188952" cy="36576"/>
          </a:xfrm>
          <a:prstGeom prst="roundRect">
            <a:avLst/>
          </a:prstGeom>
          <a:solidFill>
            <a:srgbClr val="80C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1681</Words>
  <Application>Microsoft Office PowerPoint</Application>
  <PresentationFormat>와이드스크린</PresentationFormat>
  <Paragraphs>395</Paragraphs>
  <Slides>17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Noto Sans CJK KR</vt:lpstr>
      <vt:lpstr>맑은 고딕</vt:lpstr>
      <vt:lpstr>Arial</vt:lpstr>
      <vt:lpstr>Noto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ESTsoft 2팀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ESTsoft 2팀 양방향 수어 통역기</dc:title>
  <dc:subject>ESTsoft 2팀 양방향 수어 통역기</dc:subject>
  <dc:creator>OpenAI</dc:creator>
  <cp:lastModifiedBy>Yong Su CHOI</cp:lastModifiedBy>
  <cp:revision>20</cp:revision>
  <dcterms:created xsi:type="dcterms:W3CDTF">2026-05-08T05:42:12Z</dcterms:created>
  <dcterms:modified xsi:type="dcterms:W3CDTF">2026-05-08T09:23:12Z</dcterms:modified>
</cp:coreProperties>
</file>